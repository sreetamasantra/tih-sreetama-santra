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— Model Comparison &amp; Mentor Review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1790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methods compared  ·  Overfitting / failure analysis  ·  Candidate shortlist  ·  Next experiments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901952"/>
            <a:ext cx="8046720" cy="0"/>
          </a:xfrm>
          <a:prstGeom prst="line">
            <a:avLst/>
          </a:prstGeom>
          <a:noFill/>
          <a:ln w="12700">
            <a:solidFill>
              <a:srgbClr val="3A6F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482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Sreetama Santra  |  IEM, Salt Lake, Kolkata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317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TIH IIT Guwahati  |  Mentor: T. Vamsikrishna  |  Group S2  |  Week 3 — Day 18  |  2026-09-06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761488"/>
            <a:ext cx="8046720" cy="2121408"/>
          </a:xfrm>
          <a:prstGeom prst="roundRect">
            <a:avLst>
              <a:gd name="adj" fmla="val 3448"/>
            </a:avLst>
          </a:prstGeom>
          <a:solidFill>
            <a:srgbClr val="253D52"/>
          </a:solidFill>
          <a:ln w="12700">
            <a:solidFill>
              <a:srgbClr val="3A55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85292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evaluated on:  Dataset V1 frozen split  ·  8 features (Voltage, Current, Temp, Power, roll_mean_V, roll_mean_I, dV/dt, cc_cv_flag)  ·  time_elapsed excluded (Day 16 overfitting finding)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2461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Validation: Mixed7 from all 6 temperatures (272,565 rows)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XGBoost: best_iteration = 283 of 500 (early stopping triggered at round 303)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Charging Time model: not yet trained — pending Charge file pipeline completion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66344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2: Full Comparison Table   ·   Slide 3: Analysis &amp; Shortlist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394192" y="48920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47472" y="91440"/>
            <a:ext cx="8430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 |  Full Method Comparison — SoC Estimation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603504"/>
            <a:ext cx="8430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trained on Dataset V1 frozen split · metrics on validation set · features without time_elapsed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Estimation — Validation Set Metrics</a:t>
            </a:r>
            <a:endParaRPr lang="en-US" sz="10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89888"/>
          <a:ext cx="8503920" cy="2852928"/>
        </p:xfrm>
        <a:graphic>
          <a:graphicData uri="http://schemas.openxmlformats.org/drawingml/2006/table">
            <a:tbl>
              <a:tblPr/>
              <a:tblGrid>
                <a:gridCol w="2377440"/>
                <a:gridCol w="868680"/>
                <a:gridCol w="777240"/>
                <a:gridCol w="822960"/>
                <a:gridCol w="731520"/>
                <a:gridCol w="868680"/>
                <a:gridCol w="868680"/>
              </a:tblGrid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MAE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MAE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RMSE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R²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 Gap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Predictor (null baseline)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22.33%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26.41%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−0.016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 (9 features w/ time)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~5.2%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4.98%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7.04%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0.928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~0.2%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 (8 features, no time)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3.10%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3.31%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0.972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with time_elapsed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9.76%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11.50%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0.804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9.68%  ⚠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Overfits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without time_elapsed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~2.0%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~4.52%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~5.8%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~0.942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~2.52%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Acceptable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(283 trees, no time)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1.58%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3.53%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4.62%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0.969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1.95%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Small — (64,32), no time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1.75%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2.49%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3.32%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0.983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✓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Medium — (128,64,32), no time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1.55%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2.29%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3.13%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0.985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0.74%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✓</a:t>
                      </a:r>
                      <a:endParaRPr lang="en-US" sz="8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4334256"/>
            <a:ext cx="8503920" cy="347472"/>
          </a:xfrm>
          <a:prstGeom prst="roundRect">
            <a:avLst>
              <a:gd name="adj" fmla="val 15789"/>
            </a:avLst>
          </a:prstGeom>
          <a:solidFill>
            <a:srgbClr val="FFF2CC"/>
          </a:solidFill>
          <a:ln w="12700">
            <a:solidFill>
              <a:srgbClr val="F9E79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75488" y="44074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Charging Time (RCT): not yet evaluated — Charge file preprocessing pipeline pending. Training planned for Days 19–21.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0040" y="4718304"/>
            <a:ext cx="8503920" cy="256032"/>
          </a:xfrm>
          <a:prstGeom prst="roundRect">
            <a:avLst>
              <a:gd name="adj" fmla="val 21429"/>
            </a:avLst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75488" y="477316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benchmark: Kollmeyer 2020 DNN — RMSE &lt; 1.5%  ·  Chemali 2018 LSTM — MAE &lt; 1.0%  ·  Our MLP Medium MAE = 2.29% — within range for a feedforward network without recurrence</a:t>
            </a:r>
            <a:endParaRPr lang="en-US" sz="850" dirty="0"/>
          </a:p>
        </p:txBody>
      </p:sp>
      <p:sp>
        <p:nvSpPr>
          <p:cNvPr id="11" name="Text 8"/>
          <p:cNvSpPr txBox="1"/>
          <p:nvPr/>
        </p:nvSpPr>
        <p:spPr>
          <a:xfrm>
            <a:off x="8394192" y="48920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47472" y="91440"/>
            <a:ext cx="8430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 |  Analysis, Failure Patterns &amp; Shortlisted Candidates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603504"/>
            <a:ext cx="8430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comparison reveals — where each model fails — what to do next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1078992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from Comparison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389888"/>
            <a:ext cx="5212080" cy="786384"/>
          </a:xfrm>
          <a:prstGeom prst="roundRect">
            <a:avLst>
              <a:gd name="adj" fmla="val 6977"/>
            </a:avLst>
          </a:prstGeom>
          <a:solidFill>
            <a:srgbClr val="FADADD"/>
          </a:solidFill>
          <a:ln w="12700">
            <a:solidFill>
              <a:srgbClr val="F5B7B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57200" y="1463040"/>
            <a:ext cx="4919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with time_elapsed — severe overfitting (gap 9.68%)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719072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MAE=0.08%, Val MAE=9.76%. Memorises session timeline. Fails on val files starting at different SoC levels. time_elapsed excluded from all subsequent models.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2267712"/>
            <a:ext cx="5212080" cy="786384"/>
          </a:xfrm>
          <a:prstGeom prst="roundRect">
            <a:avLst>
              <a:gd name="adj" fmla="val 6977"/>
            </a:avLst>
          </a:prstGeom>
          <a:solidFill>
            <a:srgbClr val="FFF2CC"/>
          </a:solidFill>
          <a:ln w="12700">
            <a:solidFill>
              <a:srgbClr val="F9E79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7200" y="2340864"/>
            <a:ext cx="4919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F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— good but doesn't beat MLP (gap 1.95%)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596896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MAE=3.53%, RMSE=4.62%, R²=0.969. Early stopping at iteration 283. Better than RF (no time) but worse than both MLP variants. Built-in regularisation works but the continuous SoC non-linearity favours the MLP architecture.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3145536"/>
            <a:ext cx="5212080" cy="786384"/>
          </a:xfrm>
          <a:prstGeom prst="roundRect">
            <a:avLst>
              <a:gd name="adj" fmla="val 6977"/>
            </a:avLst>
          </a:prstGeom>
          <a:solidFill>
            <a:srgbClr val="D6E4F0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57200" y="3218688"/>
            <a:ext cx="4919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— surprisingly competitive baseline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474720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MAE=3.31%, R²=0.972, zero overfitting. Fails at SoC extremes (0–20%: MAE=7.82%, 80–100%: MAE=6.35%). Good interpretability and speed. Retained as reference.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4023360"/>
            <a:ext cx="5212080" cy="786384"/>
          </a:xfrm>
          <a:prstGeom prst="roundRect">
            <a:avLst>
              <a:gd name="adj" fmla="val 6977"/>
            </a:avLst>
          </a:prstGeom>
          <a:solidFill>
            <a:srgbClr val="E2EFDA"/>
          </a:solidFill>
          <a:ln w="12700">
            <a:solidFill>
              <a:srgbClr val="A9DFB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57200" y="4096512"/>
            <a:ext cx="4919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Medium — best model, BEATS 3% target (gap 0.74%)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352544"/>
            <a:ext cx="4919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MAE=2.29%, RMSE=3.13%, R²=0.985. Overfit gap only 0.74%. Per-range: 0–20%=2.44%, 20–80%=2.07%, 80–100%=3.05%. Captures S-curve non-linearity that XGBoost and LR miss.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5715000" y="10789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Shortlisted Candidates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15000" y="1389888"/>
            <a:ext cx="3108960" cy="969264"/>
          </a:xfrm>
          <a:prstGeom prst="roundRect">
            <a:avLst>
              <a:gd name="adj" fmla="val 5660"/>
            </a:avLst>
          </a:prstGeom>
          <a:solidFill>
            <a:srgbClr val="E2EFDA"/>
          </a:solidFill>
          <a:ln w="12700">
            <a:solidFill>
              <a:srgbClr val="A9DFBF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15584" y="1554480"/>
            <a:ext cx="402336" cy="402336"/>
          </a:xfrm>
          <a:prstGeom prst="ellipse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815584" y="1554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291072" y="1499616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Medium (128,64,32)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291072" y="1773936"/>
            <a:ext cx="24323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MAE=2.29%  R²=0.985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accuracy, controlled overfitting.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for full-dataset retraining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error analysis (EXP-004).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715000" y="2432304"/>
            <a:ext cx="3108960" cy="969264"/>
          </a:xfrm>
          <a:prstGeom prst="roundRect">
            <a:avLst>
              <a:gd name="adj" fmla="val 5660"/>
            </a:avLst>
          </a:prstGeom>
          <a:solidFill>
            <a:srgbClr val="D6E4F0"/>
          </a:solidFill>
          <a:ln w="12700">
            <a:solidFill>
              <a:srgbClr val="AED6F1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815584" y="2596896"/>
            <a:ext cx="402336" cy="402336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815584" y="2596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291072" y="2542032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(283 trees)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6291072" y="2816352"/>
            <a:ext cx="24323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MAE=3.53%  R²=0.969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inference, interpretable importance.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for XGBoost-Colab run 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6-temp dataset for fair comparison.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715000" y="3474720"/>
            <a:ext cx="3108960" cy="969264"/>
          </a:xfrm>
          <a:prstGeom prst="roundRect">
            <a:avLst>
              <a:gd name="adj" fmla="val 5660"/>
            </a:avLst>
          </a:prstGeom>
          <a:solidFill>
            <a:srgbClr val="F2F4F6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815584" y="3639312"/>
            <a:ext cx="402336" cy="402336"/>
          </a:xfrm>
          <a:prstGeom prst="ellipse">
            <a:avLst/>
          </a:prstGeom>
          <a:solidFill>
            <a:srgbClr val="217A6E"/>
          </a:solidFill>
          <a:ln w="12700">
            <a:solidFill>
              <a:srgbClr val="217A6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815584" y="3639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291072" y="3584448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6291072" y="3858768"/>
            <a:ext cx="24323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MAE=3.31%  R²=0.972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overfitting, fastest, most interpretable.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as permanent baseline for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future comparisons.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715000" y="4517136"/>
            <a:ext cx="3108960" cy="548640"/>
          </a:xfrm>
          <a:prstGeom prst="roundRect">
            <a:avLst>
              <a:gd name="adj" fmla="val 10000"/>
            </a:avLst>
          </a:prstGeom>
          <a:solidFill>
            <a:srgbClr val="F2F4F6"/>
          </a:solidFill>
          <a:ln w="12700">
            <a:solidFill>
              <a:srgbClr val="D0D8E0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5852160" y="457200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Limitations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5852160" y="4791456"/>
            <a:ext cx="28346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40°C Mixed7: only 1,847 rows — anomalous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5852160" y="4864608"/>
            <a:ext cx="28346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−20°C: SoC span only 52.9%</a:t>
            </a:r>
            <a:endParaRPr lang="en-US" sz="750" dirty="0"/>
          </a:p>
        </p:txBody>
      </p:sp>
      <p:sp>
        <p:nvSpPr>
          <p:cNvPr id="38" name="Text 36"/>
          <p:cNvSpPr txBox="1"/>
          <p:nvPr/>
        </p:nvSpPr>
        <p:spPr>
          <a:xfrm>
            <a:off x="5852160" y="4937760"/>
            <a:ext cx="28346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0–20% SoC: sparse (7.9% of rows)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5852160" y="5010912"/>
            <a:ext cx="28346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RCT: not yet trained</a:t>
            </a:r>
            <a:endParaRPr lang="en-US" sz="750" dirty="0"/>
          </a:p>
        </p:txBody>
      </p:sp>
      <p:sp>
        <p:nvSpPr>
          <p:cNvPr id="40" name="Text 38"/>
          <p:cNvSpPr txBox="1"/>
          <p:nvPr/>
        </p:nvSpPr>
        <p:spPr>
          <a:xfrm>
            <a:off x="8394192" y="48920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2026-09-17T08:28:36Z</dcterms:created>
  <dcterms:modified xsi:type="dcterms:W3CDTF">2026-09-17T08:28:36Z</dcterms:modified>
</cp:coreProperties>
</file>