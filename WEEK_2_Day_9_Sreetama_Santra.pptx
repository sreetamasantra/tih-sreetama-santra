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7724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 — Cleaning Proposal &amp; Mentor Review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Findings  ·  Proposed Cleaning Rules  ·  Split Strategy  ·  Leakage Prevention  ·  Mentor Decision Points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993392"/>
            <a:ext cx="8046720" cy="0"/>
          </a:xfrm>
          <a:prstGeom prst="line">
            <a:avLst/>
          </a:prstGeom>
          <a:noFill/>
          <a:ln w="12700">
            <a:solidFill>
              <a:srgbClr val="3A6F8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Sreetama Santra  |  IEM, Salt Lake, Kolkata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5059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TIH IIT Guwahati  |  Mentor: T. Vamsikrishna  |  Group S2  |  Week 2 — Day 9  |  2026-08-28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907792"/>
            <a:ext cx="8046720" cy="1051560"/>
          </a:xfrm>
          <a:prstGeom prst="roundRect">
            <a:avLst>
              <a:gd name="adj" fmla="val 6957"/>
            </a:avLst>
          </a:prstGeom>
          <a:solidFill>
            <a:srgbClr val="253D52"/>
          </a:solidFill>
          <a:ln w="12700">
            <a:solidFill>
              <a:srgbClr val="3A557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31520" y="30175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Scope: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2918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 HG2 18650 Li-ion Battery Dataset (McMaster University, Dr. Phillip Kollmeyer)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208 CSV files  ·  6 temperature conditions (−20°C to 40°C)  ·  400,174 total rows  ·  364,168 valid TABLE rows (after PAU filter)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scope: All 6 Mixed1 files (one per temperature)  ·  All statistics computed on unmodified raw data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66344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2: Data Quality Findings     ·     Slide 3: Cleaning Rules &amp; Justification     ·     Slide 4: Split Strategy &amp; Mentor Decisions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394192" y="48920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47472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 |  Data Quality Findings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60350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numbers computed on 364,168 valid TABLE rows from 6 Mixed1 files — no cleaning applied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1280160" cy="2926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56616" y="1115568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600200" y="1115568"/>
            <a:ext cx="868680" cy="2926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636776" y="1115568"/>
            <a:ext cx="795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Rows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68880" y="1115568"/>
            <a:ext cx="731520" cy="2926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05456" y="111556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0" y="1115568"/>
            <a:ext cx="1508760" cy="2926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36976" y="1115568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(observed)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09160" y="1115568"/>
            <a:ext cx="1508760" cy="2926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45736" y="1115568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Bounds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17920" y="1115568"/>
            <a:ext cx="1005840" cy="2926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54496" y="1115568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Outliers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223760" y="1115568"/>
            <a:ext cx="822960" cy="2926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60336" y="111556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" y="1408176"/>
            <a:ext cx="1280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6616" y="1408176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(V)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600200" y="1408176"/>
            <a:ext cx="868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636776" y="1408176"/>
            <a:ext cx="795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364,168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468880" y="1408176"/>
            <a:ext cx="731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505456" y="1408176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(0.00%)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0" y="1408176"/>
            <a:ext cx="15087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236976" y="1408176"/>
            <a:ext cx="143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2.795 V to 4.202 V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09160" y="1408176"/>
            <a:ext cx="15087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45736" y="1408176"/>
            <a:ext cx="143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V to 4.25 V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217920" y="1408176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54496" y="1408176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5,373 (1.48%)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223760" y="1408176"/>
            <a:ext cx="822960" cy="384048"/>
          </a:xfrm>
          <a:prstGeom prst="rect">
            <a:avLst/>
          </a:prstGeom>
          <a:solidFill>
            <a:srgbClr val="E2EFDA"/>
          </a:solidFill>
          <a:ln w="12700">
            <a:solidFill>
              <a:srgbClr val="E2EFD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260336" y="1408176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0040" y="1810512"/>
            <a:ext cx="1280160" cy="384048"/>
          </a:xfrm>
          <a:prstGeom prst="rect">
            <a:avLst/>
          </a:prstGeom>
          <a:solidFill>
            <a:srgbClr val="F2F4F6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56616" y="1810512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(A)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600200" y="1810512"/>
            <a:ext cx="868680" cy="384048"/>
          </a:xfrm>
          <a:prstGeom prst="rect">
            <a:avLst/>
          </a:prstGeom>
          <a:solidFill>
            <a:srgbClr val="F2F4F6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636776" y="1810512"/>
            <a:ext cx="795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364,168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468880" y="1810512"/>
            <a:ext cx="731520" cy="384048"/>
          </a:xfrm>
          <a:prstGeom prst="rect">
            <a:avLst/>
          </a:prstGeom>
          <a:solidFill>
            <a:srgbClr val="F2F4F6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505456" y="1810512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(0.00%)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00400" y="1810512"/>
            <a:ext cx="1508760" cy="384048"/>
          </a:xfrm>
          <a:prstGeom prst="rect">
            <a:avLst/>
          </a:prstGeom>
          <a:solidFill>
            <a:srgbClr val="F2F4F6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236976" y="1810512"/>
            <a:ext cx="143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−16.89 A to +6.00 A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09160" y="1810512"/>
            <a:ext cx="1508760" cy="384048"/>
          </a:xfrm>
          <a:prstGeom prst="rect">
            <a:avLst/>
          </a:prstGeom>
          <a:solidFill>
            <a:srgbClr val="F2F4F6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745736" y="1810512"/>
            <a:ext cx="143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−20 A to +10 A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217920" y="1810512"/>
            <a:ext cx="1005840" cy="384048"/>
          </a:xfrm>
          <a:prstGeom prst="rect">
            <a:avLst/>
          </a:prstGeom>
          <a:solidFill>
            <a:srgbClr val="F2F4F6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254496" y="1810512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Bimodal — N/A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223760" y="1810512"/>
            <a:ext cx="822960" cy="384048"/>
          </a:xfrm>
          <a:prstGeom prst="rect">
            <a:avLst/>
          </a:prstGeom>
          <a:solidFill>
            <a:srgbClr val="E2EFDA"/>
          </a:solidFill>
          <a:ln w="12700">
            <a:solidFill>
              <a:srgbClr val="E2EFD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260336" y="1810512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20040" y="2212848"/>
            <a:ext cx="1280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56616" y="2212848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(°C)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1600200" y="2212848"/>
            <a:ext cx="868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636776" y="2212848"/>
            <a:ext cx="795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364,168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468880" y="2212848"/>
            <a:ext cx="731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2505456" y="2212848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(0.00%)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200400" y="2212848"/>
            <a:ext cx="15087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3236976" y="2212848"/>
            <a:ext cx="143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−19.98 to +40.17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709160" y="2212848"/>
            <a:ext cx="15087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745736" y="2212848"/>
            <a:ext cx="143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−30°C to +60°C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217920" y="2212848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254496" y="221284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Self-heating noted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7223760" y="2212848"/>
            <a:ext cx="822960" cy="384048"/>
          </a:xfrm>
          <a:prstGeom prst="rect">
            <a:avLst/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7260336" y="2212848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F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20040" y="2615184"/>
            <a:ext cx="1280160" cy="384048"/>
          </a:xfrm>
          <a:prstGeom prst="rect">
            <a:avLst/>
          </a:prstGeom>
          <a:solidFill>
            <a:srgbClr val="F2F4F6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356616" y="2615184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(Ah)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1600200" y="2615184"/>
            <a:ext cx="868680" cy="384048"/>
          </a:xfrm>
          <a:prstGeom prst="rect">
            <a:avLst/>
          </a:prstGeom>
          <a:solidFill>
            <a:srgbClr val="F2F4F6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1636776" y="2615184"/>
            <a:ext cx="795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364,168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468880" y="2615184"/>
            <a:ext cx="731520" cy="384048"/>
          </a:xfrm>
          <a:prstGeom prst="rect">
            <a:avLst/>
          </a:prstGeom>
          <a:solidFill>
            <a:srgbClr val="F2F4F6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2505456" y="2615184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(0.00%)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3200400" y="2615184"/>
            <a:ext cx="1508760" cy="384048"/>
          </a:xfrm>
          <a:prstGeom prst="rect">
            <a:avLst/>
          </a:prstGeom>
          <a:solidFill>
            <a:srgbClr val="F2F4F6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3236976" y="2615184"/>
            <a:ext cx="143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−2.590 to 0.000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709160" y="2615184"/>
            <a:ext cx="1508760" cy="384048"/>
          </a:xfrm>
          <a:prstGeom prst="rect">
            <a:avLst/>
          </a:prstGeom>
          <a:solidFill>
            <a:srgbClr val="F2F4F6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4745736" y="2615184"/>
            <a:ext cx="143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−3.5 Ah to 0 Ah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6217920" y="2615184"/>
            <a:ext cx="1005840" cy="384048"/>
          </a:xfrm>
          <a:prstGeom prst="rect">
            <a:avLst/>
          </a:prstGeom>
          <a:solidFill>
            <a:srgbClr val="F2F4F6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6254496" y="2615184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218 zeros (valid)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7223760" y="2615184"/>
            <a:ext cx="822960" cy="384048"/>
          </a:xfrm>
          <a:prstGeom prst="rect">
            <a:avLst/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7260336" y="2615184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F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320040" y="3017520"/>
            <a:ext cx="1280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356616" y="3017520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WhAccu (Wh)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1600200" y="3017520"/>
            <a:ext cx="868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1636776" y="3017520"/>
            <a:ext cx="795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364,168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2468880" y="3017520"/>
            <a:ext cx="731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2505456" y="301752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(0.00%)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3200400" y="3017520"/>
            <a:ext cx="15087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3236976" y="3017520"/>
            <a:ext cx="143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−9.6 to 0.000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4709160" y="3017520"/>
            <a:ext cx="15087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4745736" y="3017520"/>
            <a:ext cx="143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Capacity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6217920" y="3017520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6254496" y="3017520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7223760" y="3017520"/>
            <a:ext cx="822960" cy="384048"/>
          </a:xfrm>
          <a:prstGeom prst="rect">
            <a:avLst/>
          </a:prstGeom>
          <a:solidFill>
            <a:srgbClr val="E2EFDA"/>
          </a:solidFill>
          <a:ln w="12700">
            <a:solidFill>
              <a:srgbClr val="E2EFDA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7260336" y="30175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320040" y="3419856"/>
            <a:ext cx="1280160" cy="384048"/>
          </a:xfrm>
          <a:prstGeom prst="rect">
            <a:avLst/>
          </a:prstGeom>
          <a:solidFill>
            <a:srgbClr val="F2F4F6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356616" y="3419856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1600200" y="3419856"/>
            <a:ext cx="868680" cy="384048"/>
          </a:xfrm>
          <a:prstGeom prst="rect">
            <a:avLst/>
          </a:prstGeom>
          <a:solidFill>
            <a:srgbClr val="F2F4F6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1636776" y="3419856"/>
            <a:ext cx="795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400,174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2468880" y="3419856"/>
            <a:ext cx="731520" cy="384048"/>
          </a:xfrm>
          <a:prstGeom prst="rect">
            <a:avLst/>
          </a:prstGeom>
          <a:solidFill>
            <a:srgbClr val="F2F4F6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2505456" y="3419856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(0.00%)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3200400" y="3419856"/>
            <a:ext cx="1508760" cy="384048"/>
          </a:xfrm>
          <a:prstGeom prst="rect">
            <a:avLst/>
          </a:prstGeom>
          <a:solidFill>
            <a:srgbClr val="F2F4F6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3236976" y="3419856"/>
            <a:ext cx="143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or PAU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4709160" y="3419856"/>
            <a:ext cx="1508760" cy="384048"/>
          </a:xfrm>
          <a:prstGeom prst="rect">
            <a:avLst/>
          </a:prstGeom>
          <a:solidFill>
            <a:srgbClr val="F2F4F6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4745736" y="3419856"/>
            <a:ext cx="143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6217920" y="3419856"/>
            <a:ext cx="1005840" cy="384048"/>
          </a:xfrm>
          <a:prstGeom prst="rect">
            <a:avLst/>
          </a:prstGeom>
          <a:solidFill>
            <a:srgbClr val="F2F4F6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6254496" y="3419856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36,006 PAU rows (9.0%)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7223760" y="3419856"/>
            <a:ext cx="822960" cy="384048"/>
          </a:xfrm>
          <a:prstGeom prst="rect">
            <a:avLst/>
          </a:prstGeom>
          <a:solidFill>
            <a:srgbClr val="FADADD"/>
          </a:solidFill>
          <a:ln w="12700">
            <a:solidFill>
              <a:srgbClr val="FADADD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7260336" y="3419856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320040" y="3822192"/>
            <a:ext cx="1280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356616" y="3822192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Stamp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1600200" y="3822192"/>
            <a:ext cx="868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1636776" y="3822192"/>
            <a:ext cx="795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364,168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2468880" y="3822192"/>
            <a:ext cx="731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2505456" y="3822192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(0.00%)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3200400" y="3822192"/>
            <a:ext cx="15087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3236976" y="3822192"/>
            <a:ext cx="143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 — all 6 files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4709160" y="3822192"/>
            <a:ext cx="15087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4745736" y="3822192"/>
            <a:ext cx="143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Strictly increasing</a:t>
            </a:r>
            <a:endParaRPr lang="en-US" sz="850" dirty="0"/>
          </a:p>
        </p:txBody>
      </p:sp>
      <p:sp>
        <p:nvSpPr>
          <p:cNvPr id="113" name="Shape 111"/>
          <p:cNvSpPr/>
          <p:nvPr/>
        </p:nvSpPr>
        <p:spPr>
          <a:xfrm>
            <a:off x="6217920" y="3822192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6254496" y="3822192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non-monotonic</a:t>
            </a:r>
            <a:endParaRPr lang="en-US" sz="850" dirty="0"/>
          </a:p>
        </p:txBody>
      </p:sp>
      <p:sp>
        <p:nvSpPr>
          <p:cNvPr id="115" name="Shape 113"/>
          <p:cNvSpPr/>
          <p:nvPr/>
        </p:nvSpPr>
        <p:spPr>
          <a:xfrm>
            <a:off x="7223760" y="3822192"/>
            <a:ext cx="822960" cy="384048"/>
          </a:xfrm>
          <a:prstGeom prst="rect">
            <a:avLst/>
          </a:prstGeom>
          <a:solidFill>
            <a:srgbClr val="E2EFDA"/>
          </a:solidFill>
          <a:ln w="12700">
            <a:solidFill>
              <a:srgbClr val="E2EFDA"/>
            </a:solidFill>
            <a:prstDash val="solid"/>
          </a:ln>
        </p:spPr>
      </p:sp>
      <p:sp>
        <p:nvSpPr>
          <p:cNvPr id="116" name="Text 114"/>
          <p:cNvSpPr txBox="1"/>
          <p:nvPr/>
        </p:nvSpPr>
        <p:spPr>
          <a:xfrm>
            <a:off x="7260336" y="3822192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50" dirty="0"/>
          </a:p>
        </p:txBody>
      </p:sp>
      <p:sp>
        <p:nvSpPr>
          <p:cNvPr id="117" name="Shape 115"/>
          <p:cNvSpPr/>
          <p:nvPr/>
        </p:nvSpPr>
        <p:spPr>
          <a:xfrm>
            <a:off x="320040" y="4242816"/>
            <a:ext cx="4160520" cy="749808"/>
          </a:xfrm>
          <a:prstGeom prst="roundRect">
            <a:avLst>
              <a:gd name="adj" fmla="val 7317"/>
            </a:avLst>
          </a:prstGeom>
          <a:solidFill>
            <a:srgbClr val="FFF2CC"/>
          </a:solidFill>
          <a:ln w="12700">
            <a:solidFill>
              <a:srgbClr val="F9E79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118" name="Text 116"/>
          <p:cNvSpPr txBox="1"/>
          <p:nvPr/>
        </p:nvSpPr>
        <p:spPr>
          <a:xfrm>
            <a:off x="457200" y="43159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F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Temperature Self-Heating (Key Finding)</a:t>
            </a:r>
            <a:endParaRPr lang="en-US" sz="1000" dirty="0"/>
          </a:p>
        </p:txBody>
      </p:sp>
      <p:sp>
        <p:nvSpPr>
          <p:cNvPr id="119" name="Text 117"/>
          <p:cNvSpPr txBox="1"/>
          <p:nvPr/>
        </p:nvSpPr>
        <p:spPr>
          <a:xfrm>
            <a:off x="457200" y="45720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self-heats under active discharge load by up to 4.73°C at −20°C. The −10°C folder actual measured range is −10.1°C to −6.3°C. Must use the measured Temperature column as input feature — never the folder name.</a:t>
            </a:r>
            <a:endParaRPr lang="en-US" sz="900" dirty="0"/>
          </a:p>
        </p:txBody>
      </p:sp>
      <p:sp>
        <p:nvSpPr>
          <p:cNvPr id="120" name="Shape 118"/>
          <p:cNvSpPr/>
          <p:nvPr/>
        </p:nvSpPr>
        <p:spPr>
          <a:xfrm>
            <a:off x="4663440" y="4242816"/>
            <a:ext cx="4160520" cy="749808"/>
          </a:xfrm>
          <a:prstGeom prst="roundRect">
            <a:avLst>
              <a:gd name="adj" fmla="val 7317"/>
            </a:avLst>
          </a:prstGeom>
          <a:solidFill>
            <a:srgbClr val="FADADD"/>
          </a:solidFill>
          <a:ln w="12700">
            <a:solidFill>
              <a:srgbClr val="F5B7B1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121" name="Text 119"/>
          <p:cNvSpPr txBox="1"/>
          <p:nvPr/>
        </p:nvSpPr>
        <p:spPr>
          <a:xfrm>
            <a:off x="4800600" y="43159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SoC Coverage Drops Sharply at Cold Temperatures</a:t>
            </a:r>
            <a:endParaRPr lang="en-US" sz="1000" dirty="0"/>
          </a:p>
        </p:txBody>
      </p:sp>
      <p:sp>
        <p:nvSpPr>
          <p:cNvPr id="122" name="Text 120"/>
          <p:cNvSpPr txBox="1"/>
          <p:nvPr/>
        </p:nvSpPr>
        <p:spPr>
          <a:xfrm>
            <a:off x="4800600" y="45720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span: 86.3% at 25°C vs only 52.9% at −20°C (from capacity range analysis). A model trained only on 25°C data will not see the full SoC range at cold temperatures. Per-temperature evaluation is essential.</a:t>
            </a:r>
            <a:endParaRPr lang="en-US" sz="900" dirty="0"/>
          </a:p>
        </p:txBody>
      </p:sp>
      <p:sp>
        <p:nvSpPr>
          <p:cNvPr id="123" name="Text 121"/>
          <p:cNvSpPr txBox="1"/>
          <p:nvPr/>
        </p:nvSpPr>
        <p:spPr>
          <a:xfrm>
            <a:off x="8394192" y="48920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47472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 |  Proposed Cleaning Rules with Justification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60350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active cleaning steps and 6 architectural constraints — all grounded in actual data findings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9728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Cleaning Steps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426464"/>
            <a:ext cx="4160520" cy="804672"/>
          </a:xfrm>
          <a:prstGeom prst="roundRect">
            <a:avLst>
              <a:gd name="adj" fmla="val 6818"/>
            </a:avLst>
          </a:prstGeom>
          <a:solidFill>
            <a:srgbClr val="E2EFDA"/>
          </a:solidFill>
          <a:ln w="12700">
            <a:solidFill>
              <a:srgbClr val="A9DFB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9768" y="1517904"/>
            <a:ext cx="749808" cy="219456"/>
          </a:xfrm>
          <a:prstGeom prst="roundRect">
            <a:avLst>
              <a:gd name="adj" fmla="val 16667"/>
            </a:avLst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9768" y="1517904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1243584" y="1517904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unit descriptor row (index 0 after header)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29768" y="179222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Causes all sensor columns to parse as object dtype. One occurrence per file — systematic, not random.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29768" y="202082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D5C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 df.drop(index=0).reset_index(drop=True) immediately after pd.read_csv()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20040" y="2313432"/>
            <a:ext cx="4160520" cy="804672"/>
          </a:xfrm>
          <a:prstGeom prst="roundRect">
            <a:avLst>
              <a:gd name="adj" fmla="val 6818"/>
            </a:avLst>
          </a:prstGeom>
          <a:solidFill>
            <a:srgbClr val="E2EFDA"/>
          </a:solidFill>
          <a:ln w="12700">
            <a:solidFill>
              <a:srgbClr val="A9DFB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" y="2404872"/>
            <a:ext cx="749808" cy="219456"/>
          </a:xfrm>
          <a:prstGeom prst="roundRect">
            <a:avLst>
              <a:gd name="adj" fmla="val 16667"/>
            </a:avLst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9768" y="2404872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1243584" y="2404872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rows where Status = PAU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29768" y="26791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36,006 PAU rows detected (6,001 per Mixed1 file × 6 temps). PAU = tester paused. Readings are rest-state and not representative of active drive-cycle behavior.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429768" y="29077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D5C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 df = df[df['Status'] == 'TABLE']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20040" y="3200400"/>
            <a:ext cx="4160520" cy="804672"/>
          </a:xfrm>
          <a:prstGeom prst="roundRect">
            <a:avLst>
              <a:gd name="adj" fmla="val 6818"/>
            </a:avLst>
          </a:prstGeom>
          <a:solidFill>
            <a:srgbClr val="E2EFDA"/>
          </a:solidFill>
          <a:ln w="12700">
            <a:solidFill>
              <a:srgbClr val="A9DFB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9768" y="3291840"/>
            <a:ext cx="749808" cy="219456"/>
          </a:xfrm>
          <a:prstGeom prst="roundRect">
            <a:avLst>
              <a:gd name="adj" fmla="val 16667"/>
            </a:avLst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9768" y="329184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1243584" y="3291840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numeric dtype on all sensor columns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29768" y="356616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Mixed-type object columns cause silent arithmetic failures. Unit row is the root cause.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429768" y="379476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D5C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 pd.to_numeric(df[col], errors='coerce') for each of: Voltage, Current, Temperature, Capacity, WhAccu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20040" y="4087368"/>
            <a:ext cx="4160520" cy="804672"/>
          </a:xfrm>
          <a:prstGeom prst="roundRect">
            <a:avLst>
              <a:gd name="adj" fmla="val 6818"/>
            </a:avLst>
          </a:prstGeom>
          <a:solidFill>
            <a:srgbClr val="E2EFDA"/>
          </a:solidFill>
          <a:ln w="12700">
            <a:solidFill>
              <a:srgbClr val="A9DFB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9768" y="4178808"/>
            <a:ext cx="749808" cy="219456"/>
          </a:xfrm>
          <a:prstGeom prst="roundRect">
            <a:avLst>
              <a:gd name="adj" fmla="val 16667"/>
            </a:avLst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29768" y="417880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1243584" y="4178808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Charge files with fewer than 500 rows  [PROVISIONAL]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429768" y="445312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Charge1 at 25°C contains only 131 rows — represents only the CV tail-end of a charging session. Too few rows to derive reliable Remaining Charging Time labels.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429768" y="46817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D5C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 if len(df) &gt;= 500: include in Charge file list  ← threshold is provisional, subject to mentor confirmation</a:t>
            </a:r>
            <a:endParaRPr lang="en-US" sz="750" dirty="0"/>
          </a:p>
        </p:txBody>
      </p:sp>
      <p:sp>
        <p:nvSpPr>
          <p:cNvPr id="30" name="Text 28"/>
          <p:cNvSpPr txBox="1"/>
          <p:nvPr/>
        </p:nvSpPr>
        <p:spPr>
          <a:xfrm>
            <a:off x="4663440" y="109728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Constraints — Do Not Violate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1426464"/>
            <a:ext cx="4160520" cy="841248"/>
          </a:xfrm>
          <a:prstGeom prst="roundRect">
            <a:avLst>
              <a:gd name="adj" fmla="val 6522"/>
            </a:avLst>
          </a:prstGeom>
          <a:solidFill>
            <a:srgbClr val="F2F4F6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73168" y="1517904"/>
            <a:ext cx="749808" cy="219456"/>
          </a:xfrm>
          <a:prstGeom prst="roundRect">
            <a:avLst>
              <a:gd name="adj" fmla="val 16667"/>
            </a:avLst>
          </a:prstGeom>
          <a:solidFill>
            <a:srgbClr val="7B1F1F"/>
          </a:solidFill>
          <a:ln w="12700">
            <a:solidFill>
              <a:srgbClr val="7B1F1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773168" y="1517904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5577840" y="1517904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remove IQR-flagged voltage outliers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773168" y="179222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5,373 IQR outliers (1.48%) are valid readings at extreme SoC: 2.8V at −20°C discharge end, 4.2V at full charge. Removing them eliminates critical SoC boundary data from training. Verified physical bounds: 2.5V to 4.25V — no values outside this range detected in 364,168 rows.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663440" y="2313432"/>
            <a:ext cx="4160520" cy="594360"/>
          </a:xfrm>
          <a:prstGeom prst="roundRect">
            <a:avLst>
              <a:gd name="adj" fmla="val 9231"/>
            </a:avLst>
          </a:prstGeom>
          <a:solidFill>
            <a:srgbClr val="F2F4F6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73168" y="2404872"/>
            <a:ext cx="749808" cy="219456"/>
          </a:xfrm>
          <a:prstGeom prst="roundRect">
            <a:avLst>
              <a:gd name="adj" fmla="val 16667"/>
            </a:avLst>
          </a:prstGeom>
          <a:solidFill>
            <a:srgbClr val="7B1F1F"/>
          </a:solidFill>
          <a:ln w="12700">
            <a:solidFill>
              <a:srgbClr val="7B1F1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773168" y="2404872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5577840" y="2404872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deduplicate rows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4773168" y="26791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21,654 exact and 74,253 near-duplicates are valid rest-state sensor readings during pauses between drive cycles. Capacity column still increments — needed for SoC derivation.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663440" y="2953512"/>
            <a:ext cx="4160520" cy="594360"/>
          </a:xfrm>
          <a:prstGeom prst="roundRect">
            <a:avLst>
              <a:gd name="adj" fmla="val 9231"/>
            </a:avLst>
          </a:prstGeom>
          <a:solidFill>
            <a:srgbClr val="F2F4F6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73168" y="3044952"/>
            <a:ext cx="749808" cy="219456"/>
          </a:xfrm>
          <a:prstGeom prst="roundRect">
            <a:avLst>
              <a:gd name="adj" fmla="val 16667"/>
            </a:avLst>
          </a:prstGeom>
          <a:solidFill>
            <a:srgbClr val="7B1F1F"/>
          </a:solidFill>
          <a:ln w="12700">
            <a:solidFill>
              <a:srgbClr val="7B1F1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773168" y="3044952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</a:t>
            </a:r>
            <a:endParaRPr 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5577840" y="3044952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measured Temperature — not folder name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4773168" y="33192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Self-heating causes actual temperature to deviate up to 4.73°C from nominal. df['Temperature'] is the correct input. Hardcoding folder temperature introduces systematic error.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663440" y="3593592"/>
            <a:ext cx="4160520" cy="530352"/>
          </a:xfrm>
          <a:prstGeom prst="roundRect">
            <a:avLst>
              <a:gd name="adj" fmla="val 10345"/>
            </a:avLst>
          </a:prstGeom>
          <a:solidFill>
            <a:srgbClr val="F2F4F6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73168" y="3685032"/>
            <a:ext cx="749808" cy="219456"/>
          </a:xfrm>
          <a:prstGeom prst="roundRect">
            <a:avLst>
              <a:gd name="adj" fmla="val 16667"/>
            </a:avLst>
          </a:prstGeom>
          <a:solidFill>
            <a:srgbClr val="7B1F1F"/>
          </a:solidFill>
          <a:ln w="12700">
            <a:solidFill>
              <a:srgbClr val="7B1F1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773168" y="3685032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5577840" y="3685032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by file — never by row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4773168" y="39593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data is time-series within each file. Row-level splitting destroys temporal continuity and allows future sensor values into training (data leakage).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663440" y="4169664"/>
            <a:ext cx="4160520" cy="530352"/>
          </a:xfrm>
          <a:prstGeom prst="roundRect">
            <a:avLst>
              <a:gd name="adj" fmla="val 10345"/>
            </a:avLst>
          </a:prstGeom>
          <a:solidFill>
            <a:srgbClr val="F2F4F6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773168" y="4261104"/>
            <a:ext cx="749808" cy="219456"/>
          </a:xfrm>
          <a:prstGeom prst="roundRect">
            <a:avLst>
              <a:gd name="adj" fmla="val 16667"/>
            </a:avLst>
          </a:prstGeom>
          <a:solidFill>
            <a:srgbClr val="7B1F1F"/>
          </a:solidFill>
          <a:ln w="12700">
            <a:solidFill>
              <a:srgbClr val="7B1F1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773168" y="4261104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R9</a:t>
            </a:r>
            <a:endParaRPr lang="en-US" sz="800" dirty="0"/>
          </a:p>
        </p:txBody>
      </p:sp>
      <p:sp>
        <p:nvSpPr>
          <p:cNvPr id="54" name="Text 52"/>
          <p:cNvSpPr txBox="1"/>
          <p:nvPr/>
        </p:nvSpPr>
        <p:spPr>
          <a:xfrm>
            <a:off x="5577840" y="4261104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StandardScaler on training data only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4773168" y="45354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 on full dataset leaks test distribution statistics into the scaler and inflates test set performance — a well-known leakage pattern.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663440" y="4745736"/>
            <a:ext cx="4160520" cy="530352"/>
          </a:xfrm>
          <a:prstGeom prst="roundRect">
            <a:avLst>
              <a:gd name="adj" fmla="val 10345"/>
            </a:avLst>
          </a:prstGeom>
          <a:solidFill>
            <a:srgbClr val="F2F4F6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773168" y="4837176"/>
            <a:ext cx="749808" cy="219456"/>
          </a:xfrm>
          <a:prstGeom prst="roundRect">
            <a:avLst>
              <a:gd name="adj" fmla="val 16667"/>
            </a:avLst>
          </a:prstGeom>
          <a:solidFill>
            <a:srgbClr val="7B1F1F"/>
          </a:solidFill>
          <a:ln w="12700">
            <a:solidFill>
              <a:srgbClr val="7B1F1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4773168" y="483717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R10</a:t>
            </a:r>
            <a:endParaRPr lang="en-US" sz="800" dirty="0"/>
          </a:p>
        </p:txBody>
      </p:sp>
      <p:sp>
        <p:nvSpPr>
          <p:cNvPr id="59" name="Text 57"/>
          <p:cNvSpPr txBox="1"/>
          <p:nvPr/>
        </p:nvSpPr>
        <p:spPr>
          <a:xfrm>
            <a:off x="5577840" y="4837176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rolling features within each file only</a:t>
            </a:r>
            <a:endParaRPr lang="en-US" sz="950" dirty="0"/>
          </a:p>
        </p:txBody>
      </p:sp>
      <p:sp>
        <p:nvSpPr>
          <p:cNvPr id="60" name="Text 58"/>
          <p:cNvSpPr txBox="1"/>
          <p:nvPr/>
        </p:nvSpPr>
        <p:spPr>
          <a:xfrm>
            <a:off x="4773168" y="51114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across file boundaries introduces sensor readings from a different charging session into the current one — cross-session temporal leakage.</a:t>
            </a:r>
            <a:endParaRPr lang="en-US" sz="800" dirty="0"/>
          </a:p>
        </p:txBody>
      </p:sp>
      <p:sp>
        <p:nvSpPr>
          <p:cNvPr id="61" name="Text 59"/>
          <p:cNvSpPr txBox="1"/>
          <p:nvPr/>
        </p:nvSpPr>
        <p:spPr>
          <a:xfrm>
            <a:off x="8394192" y="48920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47472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 |  Split Strategy, Leakage Prevention &amp; Mentor Decision Points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60350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File-level split — designed to prevent all forms of temporal leakage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9728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File-Level Train / Validation / Test Split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426464"/>
            <a:ext cx="5349240" cy="877824"/>
          </a:xfrm>
          <a:prstGeom prst="roundRect">
            <a:avLst>
              <a:gd name="adj" fmla="val 6250"/>
            </a:avLst>
          </a:prstGeom>
          <a:solidFill>
            <a:srgbClr val="E2EFDA"/>
          </a:solidFill>
          <a:ln w="12700">
            <a:solidFill>
              <a:srgbClr val="A9DFB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0624" y="1609344"/>
            <a:ext cx="512064" cy="512064"/>
          </a:xfrm>
          <a:prstGeom prst="ellipse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0624" y="16093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1517904"/>
            <a:ext cx="19019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Mixed1–Mixed6  (all 6 temps)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Charge1–Charge12  (all 6 temps)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2962656" y="1517904"/>
            <a:ext cx="25968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drive cycles cover diverse SoC trajectories across temperatures. Charge files provide CC-CV phase sequences needed to derive Remaining Charging Time labels.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2414016"/>
            <a:ext cx="5349240" cy="877824"/>
          </a:xfrm>
          <a:prstGeom prst="roundRect">
            <a:avLst>
              <a:gd name="adj" fmla="val 6250"/>
            </a:avLst>
          </a:prstGeom>
          <a:solidFill>
            <a:srgbClr val="FFF2CC"/>
          </a:solidFill>
          <a:ln w="12700">
            <a:solidFill>
              <a:srgbClr val="F9E79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0624" y="2596896"/>
            <a:ext cx="512064" cy="512064"/>
          </a:xfrm>
          <a:prstGeom prst="ellipse">
            <a:avLst/>
          </a:prstGeom>
          <a:solidFill>
            <a:srgbClr val="7F5000"/>
          </a:solidFill>
          <a:ln w="12700">
            <a:solidFill>
              <a:srgbClr val="7F50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0624" y="25968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1024128" y="2505456"/>
            <a:ext cx="19019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Mixed7  (all 6 temps)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Charge13–Charge14  (all 6 temps)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2962656" y="2505456"/>
            <a:ext cx="25968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file type as training but from a different session. Used exclusively for hyperparameter tuning and early stopping. Never used for final model selection.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3401568"/>
            <a:ext cx="5349240" cy="877824"/>
          </a:xfrm>
          <a:prstGeom prst="roundRect">
            <a:avLst>
              <a:gd name="adj" fmla="val 6250"/>
            </a:avLst>
          </a:prstGeom>
          <a:solidFill>
            <a:srgbClr val="FADADD"/>
          </a:solidFill>
          <a:ln w="12700">
            <a:solidFill>
              <a:srgbClr val="F5B7B1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0624" y="3584448"/>
            <a:ext cx="512064" cy="512064"/>
          </a:xfrm>
          <a:prstGeom prst="ellipse">
            <a:avLst/>
          </a:prstGeom>
          <a:solidFill>
            <a:srgbClr val="7B1F1F"/>
          </a:solidFill>
          <a:ln w="12700">
            <a:solidFill>
              <a:srgbClr val="7B1F1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0624" y="3584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1024128" y="3493008"/>
            <a:ext cx="19019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Mixed8, UDDS, HWFET, LA92, US06  (all 6 temps)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Charge15–Charge16  (all 6 temps)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2962656" y="3493008"/>
            <a:ext cx="25968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drive cycles (UDDS, HWFET, LA92, US06) are completely unseen during training. Tests generalization to unseen drive-cycle patterns.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4425696"/>
            <a:ext cx="5349240" cy="548640"/>
          </a:xfrm>
          <a:prstGeom prst="roundRect">
            <a:avLst>
              <a:gd name="adj" fmla="val 10000"/>
            </a:avLst>
          </a:prstGeom>
          <a:solidFill>
            <a:srgbClr val="D6E4F0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457200" y="449884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Prevention Strategy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73659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file assigned entirely to one split (no row-level splitting).  ·  No row shuffling before split.  ·  Rolling features computed within each file separately.  ·  StandardScaler fit on training files only, then applied to val and test.  ·  Timestamps verified monotonically increasing in all 6 files (0 violations detected).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5852160" y="109728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Review / Decision Points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852160" y="1426464"/>
            <a:ext cx="2971800" cy="3547872"/>
          </a:xfrm>
          <a:prstGeom prst="roundRect">
            <a:avLst>
              <a:gd name="adj" fmla="val 1846"/>
            </a:avLst>
          </a:prstGeom>
          <a:solidFill>
            <a:srgbClr val="FFF2CC"/>
          </a:solidFill>
          <a:ln w="12700">
            <a:solidFill>
              <a:srgbClr val="F9E79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5989320" y="1536192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F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confirm or correct the following: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989320" y="1865376"/>
            <a:ext cx="256032" cy="256032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89320" y="18653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6309360" y="1865376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derivation scope — per test segment independently, or tracked continuously across the full file?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989320" y="2340864"/>
            <a:ext cx="256032" cy="256032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989320" y="23408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750" dirty="0"/>
          </a:p>
        </p:txBody>
      </p:sp>
      <p:sp>
        <p:nvSpPr>
          <p:cNvPr id="32" name="Text 30"/>
          <p:cNvSpPr txBox="1"/>
          <p:nvPr/>
        </p:nvSpPr>
        <p:spPr>
          <a:xfrm>
            <a:off x="6309360" y="2340864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Q_nominal — use temperature-specific capacity from Cap_1C files, or fixed 3.0 Ah for all temperatures?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989320" y="2816352"/>
            <a:ext cx="256032" cy="256032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989320" y="2816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750" dirty="0"/>
          </a:p>
        </p:txBody>
      </p:sp>
      <p:sp>
        <p:nvSpPr>
          <p:cNvPr id="35" name="Text 33"/>
          <p:cNvSpPr txBox="1"/>
          <p:nvPr/>
        </p:nvSpPr>
        <p:spPr>
          <a:xfrm>
            <a:off x="6309360" y="2816352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confirmed — Mixed1-6 train, Mixed7 val, Mixed8 + drive cycles test?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989320" y="3291840"/>
            <a:ext cx="256032" cy="256032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989320" y="3291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</a:t>
            </a:r>
            <a:endParaRPr lang="en-US" sz="750" dirty="0"/>
          </a:p>
        </p:txBody>
      </p:sp>
      <p:sp>
        <p:nvSpPr>
          <p:cNvPr id="38" name="Text 36"/>
          <p:cNvSpPr txBox="1"/>
          <p:nvPr/>
        </p:nvSpPr>
        <p:spPr>
          <a:xfrm>
            <a:off x="6309360" y="3291840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500-row threshold for Charge file exclusion — is this acceptable, or should a different threshold be used?  [Provisional]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989320" y="3767328"/>
            <a:ext cx="256032" cy="256032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989320" y="3767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</a:t>
            </a:r>
            <a:endParaRPr lang="en-US" sz="750" dirty="0"/>
          </a:p>
        </p:txBody>
      </p:sp>
      <p:sp>
        <p:nvSpPr>
          <p:cNvPr id="41" name="Text 39"/>
          <p:cNvSpPr txBox="1"/>
          <p:nvPr/>
        </p:nvSpPr>
        <p:spPr>
          <a:xfrm>
            <a:off x="6309360" y="3767328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Confirmed: do NOT remove 5,373 IQR voltage outliers? Voltage physical bounds are 2.5 V to 4.25 V?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989320" y="4242816"/>
            <a:ext cx="256032" cy="256032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989320" y="4242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D6</a:t>
            </a:r>
            <a:endParaRPr lang="en-US" sz="750" dirty="0"/>
          </a:p>
        </p:txBody>
      </p:sp>
      <p:sp>
        <p:nvSpPr>
          <p:cNvPr id="44" name="Text 42"/>
          <p:cNvSpPr txBox="1"/>
          <p:nvPr/>
        </p:nvSpPr>
        <p:spPr>
          <a:xfrm>
            <a:off x="6309360" y="4242816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 SoC MAE threshold — must error be below a specific % to be useful for a real BMS?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5989320" y="468172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F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Corrections / Notes: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5989320" y="4864608"/>
            <a:ext cx="2697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_________________________________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8394192" y="48920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2026-09-08T11:43:53Z</dcterms:created>
  <dcterms:modified xsi:type="dcterms:W3CDTF">2026-09-08T11:43:53Z</dcterms:modified>
</cp:coreProperties>
</file>