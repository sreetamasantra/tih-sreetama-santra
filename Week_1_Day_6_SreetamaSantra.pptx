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685800"/>
            <a:ext cx="1078992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191919"/>
                </a:solidFill>
                <a:latin typeface="Arial"/>
              </a:rPr>
              <a:t>Week 1 — Day 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1325880"/>
            <a:ext cx="106984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300" b="0">
                <a:solidFill>
                  <a:srgbClr val="375F4B"/>
                </a:solidFill>
                <a:latin typeface="Arial"/>
              </a:rPr>
              <a:t>Pre-Dataset Readiness &amp; Mentor Review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011680"/>
            <a:ext cx="106070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5F5F5F"/>
                </a:solidFill>
                <a:latin typeface="Arial"/>
              </a:rPr>
              <a:t>Methodology V1  ·  Experiment Plan  ·  Split Strategy  ·  Evaluation Criteria  ·  Open Questions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806440"/>
            <a:ext cx="10515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5F5F5F"/>
                </a:solidFill>
                <a:latin typeface="Arial"/>
              </a:rPr>
              <a:t>Sreetama Santra  |  12024052019052  |  IEM, Kolkata  |  TIH IIT Guwahati  |  2026-08-25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971800"/>
            <a:ext cx="1828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91919"/>
                </a:solidFill>
                <a:latin typeface="Arial"/>
              </a:rPr>
              <a:t>Review covers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383280"/>
            <a:ext cx="53035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500"/>
              </a:spcAft>
              <a:defRPr sz="1500">
                <a:solidFill>
                  <a:srgbClr val="191919"/>
                </a:solidFill>
                <a:latin typeface="Arial"/>
              </a:defRPr>
            </a:pPr>
            <a:r>
              <a:t>• Week 1 progress summary</a:t>
            </a:r>
          </a:p>
          <a:p>
            <a:pPr>
              <a:lnSpc>
                <a:spcPct val="105000"/>
              </a:lnSpc>
              <a:spcAft>
                <a:spcPts val="500"/>
              </a:spcAft>
              <a:defRPr sz="1500">
                <a:solidFill>
                  <a:srgbClr val="191919"/>
                </a:solidFill>
                <a:latin typeface="Arial"/>
              </a:defRPr>
            </a:pPr>
            <a:r>
              <a:t>• Methodology V1</a:t>
            </a:r>
          </a:p>
          <a:p>
            <a:pPr>
              <a:lnSpc>
                <a:spcPct val="105000"/>
              </a:lnSpc>
              <a:spcAft>
                <a:spcPts val="500"/>
              </a:spcAft>
              <a:defRPr sz="1500">
                <a:solidFill>
                  <a:srgbClr val="191919"/>
                </a:solidFill>
                <a:latin typeface="Arial"/>
              </a:defRPr>
            </a:pPr>
            <a:r>
              <a:t>• Data readiness package</a:t>
            </a:r>
          </a:p>
          <a:p>
            <a:pPr>
              <a:lnSpc>
                <a:spcPct val="105000"/>
              </a:lnSpc>
              <a:spcAft>
                <a:spcPts val="500"/>
              </a:spcAft>
              <a:defRPr sz="1500">
                <a:solidFill>
                  <a:srgbClr val="191919"/>
                </a:solidFill>
                <a:latin typeface="Arial"/>
              </a:defRPr>
            </a:pPr>
            <a:r>
              <a:t>• Experiment plan</a:t>
            </a:r>
          </a:p>
          <a:p>
            <a:pPr>
              <a:lnSpc>
                <a:spcPct val="105000"/>
              </a:lnSpc>
              <a:spcAft>
                <a:spcPts val="500"/>
              </a:spcAft>
              <a:defRPr sz="1500">
                <a:solidFill>
                  <a:srgbClr val="191919"/>
                </a:solidFill>
                <a:latin typeface="Arial"/>
              </a:defRPr>
            </a:pPr>
            <a:r>
              <a:t>• Split strategy and metrics</a:t>
            </a:r>
          </a:p>
          <a:p>
            <a:pPr>
              <a:lnSpc>
                <a:spcPct val="105000"/>
              </a:lnSpc>
              <a:spcAft>
                <a:spcPts val="500"/>
              </a:spcAft>
              <a:defRPr sz="1500">
                <a:solidFill>
                  <a:srgbClr val="191919"/>
                </a:solidFill>
                <a:latin typeface="Arial"/>
              </a:defRPr>
            </a:pPr>
            <a:r>
              <a:t>• Open questions for mentor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>
                <a:solidFill>
                  <a:srgbClr val="191919"/>
                </a:solidFill>
                <a:latin typeface="Arial"/>
              </a:rPr>
              <a:t>Week 1 Progress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32688"/>
            <a:ext cx="1078992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5F5F5F"/>
                </a:solidFill>
                <a:latin typeface="Arial"/>
              </a:rPr>
              <a:t>Days 1–5 completed before dataset arrival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" y="1298448"/>
            <a:ext cx="10927080" cy="13716"/>
          </a:xfrm>
          <a:prstGeom prst="rect">
            <a:avLst/>
          </a:prstGeom>
          <a:solidFill>
            <a:srgbClr val="EBEB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01400" y="6419088"/>
            <a:ext cx="4114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5F5F5F"/>
                </a:solidFill>
                <a:latin typeface="Arial"/>
              </a:rPr>
              <a:t>2 / 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554480"/>
            <a:ext cx="5303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91919"/>
                </a:solidFill>
                <a:latin typeface="Arial"/>
              </a:rPr>
              <a:t>Day 1 — Problem Understanding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920240"/>
            <a:ext cx="521208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500"/>
              </a:spcAft>
              <a:defRPr sz="1320">
                <a:solidFill>
                  <a:srgbClr val="191919"/>
                </a:solidFill>
                <a:latin typeface="Arial"/>
              </a:defRPr>
            </a:pPr>
            <a:r>
              <a:t>• Identified SoC and Remaining Charging Time as dual regression targets.</a:t>
            </a:r>
          </a:p>
          <a:p>
            <a:pPr>
              <a:lnSpc>
                <a:spcPct val="105000"/>
              </a:lnSpc>
              <a:spcAft>
                <a:spcPts val="500"/>
              </a:spcAft>
              <a:defRPr sz="1320">
                <a:solidFill>
                  <a:srgbClr val="191919"/>
                </a:solidFill>
                <a:latin typeface="Arial"/>
              </a:defRPr>
            </a:pPr>
            <a:r>
              <a:t>• Documented a 10-step ML pipeline.</a:t>
            </a:r>
          </a:p>
          <a:p>
            <a:pPr>
              <a:lnSpc>
                <a:spcPct val="105000"/>
              </a:lnSpc>
              <a:spcAft>
                <a:spcPts val="500"/>
              </a:spcAft>
              <a:defRPr sz="1320">
                <a:solidFill>
                  <a:srgbClr val="191919"/>
                </a:solidFill>
                <a:latin typeface="Arial"/>
              </a:defRPr>
            </a:pPr>
            <a:r>
              <a:t>• Confirmed the correct LG HG2 dataset after dataset clarification.</a:t>
            </a:r>
          </a:p>
          <a:p>
            <a:pPr>
              <a:lnSpc>
                <a:spcPct val="105000"/>
              </a:lnSpc>
              <a:spcAft>
                <a:spcPts val="500"/>
              </a:spcAft>
              <a:defRPr sz="1320">
                <a:solidFill>
                  <a:srgbClr val="191919"/>
                </a:solidFill>
                <a:latin typeface="Arial"/>
              </a:defRPr>
            </a:pPr>
            <a:r>
              <a:t>• Prepared 11 questions for the mentor.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09360" y="1554480"/>
            <a:ext cx="5120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91919"/>
                </a:solidFill>
                <a:latin typeface="Arial"/>
              </a:rPr>
              <a:t>Day 2 — Literature Review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1920240"/>
            <a:ext cx="512064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500"/>
              </a:spcAft>
              <a:defRPr sz="1320">
                <a:solidFill>
                  <a:srgbClr val="191919"/>
                </a:solidFill>
                <a:latin typeface="Arial"/>
              </a:defRPr>
            </a:pPr>
            <a:r>
              <a:t>• Reviewed 8 papers, including 2 on the exact LG HG2 dataset.</a:t>
            </a:r>
          </a:p>
          <a:p>
            <a:pPr>
              <a:lnSpc>
                <a:spcPct val="105000"/>
              </a:lnSpc>
              <a:spcAft>
                <a:spcPts val="500"/>
              </a:spcAft>
              <a:defRPr sz="1320">
                <a:solidFill>
                  <a:srgbClr val="191919"/>
                </a:solidFill>
                <a:latin typeface="Arial"/>
              </a:defRPr>
            </a:pPr>
            <a:r>
              <a:t>• Benchmark RMSE &lt; 1.5% (Kollmeyer 2020).</a:t>
            </a:r>
          </a:p>
          <a:p>
            <a:pPr>
              <a:lnSpc>
                <a:spcPct val="105000"/>
              </a:lnSpc>
              <a:spcAft>
                <a:spcPts val="500"/>
              </a:spcAft>
              <a:defRPr sz="1320">
                <a:solidFill>
                  <a:srgbClr val="191919"/>
                </a:solidFill>
                <a:latin typeface="Arial"/>
              </a:defRPr>
            </a:pPr>
            <a:r>
              <a:t>• XGBoost R² &gt; 0.97 (Jafari 2022).</a:t>
            </a:r>
          </a:p>
          <a:p>
            <a:pPr>
              <a:lnSpc>
                <a:spcPct val="105000"/>
              </a:lnSpc>
              <a:spcAft>
                <a:spcPts val="500"/>
              </a:spcAft>
              <a:defRPr sz="1320">
                <a:solidFill>
                  <a:srgbClr val="191919"/>
                </a:solidFill>
                <a:latin typeface="Arial"/>
              </a:defRPr>
            </a:pPr>
            <a:r>
              <a:t>• Model order: Linear → RF → XGBoost → optional ANN.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794760"/>
            <a:ext cx="5486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91919"/>
                </a:solidFill>
                <a:latin typeface="Arial"/>
              </a:rPr>
              <a:t>Days 4–5 — Data Readiness + Pipeline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4160520"/>
            <a:ext cx="65836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500"/>
              </a:spcAft>
              <a:defRPr sz="1320">
                <a:solidFill>
                  <a:srgbClr val="191919"/>
                </a:solidFill>
                <a:latin typeface="Arial"/>
              </a:defRPr>
            </a:pPr>
            <a:r>
              <a:t>• Documented the full 15-column dataset schema.</a:t>
            </a:r>
          </a:p>
          <a:p>
            <a:pPr>
              <a:lnSpc>
                <a:spcPct val="105000"/>
              </a:lnSpc>
              <a:spcAft>
                <a:spcPts val="500"/>
              </a:spcAft>
              <a:defRPr sz="1320">
                <a:solidFill>
                  <a:srgbClr val="191919"/>
                </a:solidFill>
                <a:latin typeface="Arial"/>
              </a:defRPr>
            </a:pPr>
            <a:r>
              <a:t>• Identified 5 risk categories with mitigation plans.</a:t>
            </a:r>
          </a:p>
          <a:p>
            <a:pPr>
              <a:lnSpc>
                <a:spcPct val="105000"/>
              </a:lnSpc>
              <a:spcAft>
                <a:spcPts val="500"/>
              </a:spcAft>
              <a:defRPr sz="1320">
                <a:solidFill>
                  <a:srgbClr val="191919"/>
                </a:solidFill>
                <a:latin typeface="Arial"/>
              </a:defRPr>
            </a:pPr>
            <a:r>
              <a:t>• Defined a 12-step reproducible pipeline.</a:t>
            </a:r>
          </a:p>
          <a:p>
            <a:pPr>
              <a:lnSpc>
                <a:spcPct val="105000"/>
              </a:lnSpc>
              <a:spcAft>
                <a:spcPts val="500"/>
              </a:spcAft>
              <a:defRPr sz="1320">
                <a:solidFill>
                  <a:srgbClr val="191919"/>
                </a:solidFill>
                <a:latin typeface="Arial"/>
              </a:defRPr>
            </a:pPr>
            <a:r>
              <a:t>• Planned 4 experiments with hyperparameters.</a:t>
            </a:r>
          </a:p>
          <a:p>
            <a:pPr>
              <a:lnSpc>
                <a:spcPct val="105000"/>
              </a:lnSpc>
              <a:spcAft>
                <a:spcPts val="500"/>
              </a:spcAft>
              <a:defRPr sz="1320">
                <a:solidFill>
                  <a:srgbClr val="191919"/>
                </a:solidFill>
                <a:latin typeface="Arial"/>
              </a:defRPr>
            </a:pPr>
            <a:r>
              <a:t>• Prepared the experiment log template and folder structure.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543800" y="4160520"/>
            <a:ext cx="3749039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20" b="0">
                <a:solidFill>
                  <a:srgbClr val="5F5F5F"/>
                </a:solidFill>
                <a:latin typeface="Arial"/>
              </a:rPr>
              <a:t>Day 3 (Mentor Review 1) and Day 6 are the two structured milestone checkpoints in Week 1.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>
                <a:solidFill>
                  <a:srgbClr val="191919"/>
                </a:solidFill>
                <a:latin typeface="Arial"/>
              </a:rPr>
              <a:t>Methodology V1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32688"/>
            <a:ext cx="1078992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5F5F5F"/>
                </a:solidFill>
                <a:latin typeface="Arial"/>
              </a:rPr>
              <a:t>Proposed end-to-end approach — awaiting mentor confirmation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" y="1298448"/>
            <a:ext cx="10927080" cy="13716"/>
          </a:xfrm>
          <a:prstGeom prst="rect">
            <a:avLst/>
          </a:prstGeom>
          <a:solidFill>
            <a:srgbClr val="EBEB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01400" y="6419088"/>
            <a:ext cx="4114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5F5F5F"/>
                </a:solidFill>
                <a:latin typeface="Arial"/>
              </a:rPr>
              <a:t>3 / 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554480"/>
            <a:ext cx="52578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50" b="1">
                <a:solidFill>
                  <a:srgbClr val="191919"/>
                </a:solidFill>
                <a:latin typeface="Arial"/>
              </a:rPr>
              <a:t>1. Data Loading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883664"/>
            <a:ext cx="5212080" cy="6217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5F5F5F"/>
                </a:solidFill>
                <a:latin typeface="Arial"/>
              </a:rPr>
              <a:t>Load 208 CSV files. Skip 28 header rows. Filter PAU rows and force numeric dtypes.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715768"/>
            <a:ext cx="52578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50" b="1">
                <a:solidFill>
                  <a:srgbClr val="191919"/>
                </a:solidFill>
                <a:latin typeface="Arial"/>
              </a:rPr>
              <a:t>2. SoC Derivation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3044951"/>
            <a:ext cx="5212080" cy="6217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5F5F5F"/>
                </a:solidFill>
                <a:latin typeface="Arial"/>
              </a:rPr>
              <a:t>Coulomb counting per segment using temperature-specific Q_nominal.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3877056"/>
            <a:ext cx="52578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50" b="1">
                <a:solidFill>
                  <a:srgbClr val="191919"/>
                </a:solidFill>
                <a:latin typeface="Arial"/>
              </a:rPr>
              <a:t>3. RCT Derivation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206240"/>
            <a:ext cx="5212080" cy="6217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5F5F5F"/>
                </a:solidFill>
                <a:latin typeface="Arial"/>
              </a:rPr>
              <a:t>RCT = timestamp_end − timestamp_now. End of charge = current &lt; 150mA.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5038344"/>
            <a:ext cx="52578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50" b="1">
                <a:solidFill>
                  <a:srgbClr val="191919"/>
                </a:solidFill>
                <a:latin typeface="Arial"/>
              </a:rPr>
              <a:t>4. EDA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5367528"/>
            <a:ext cx="5212080" cy="6217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5F5F5F"/>
                </a:solidFill>
                <a:latin typeface="Arial"/>
              </a:rPr>
              <a:t>Voltage/current/temperature plots, SoC histogram, correlation heatmap, CC vs CV analysis.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09360" y="1554480"/>
            <a:ext cx="52120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50" b="1">
                <a:solidFill>
                  <a:srgbClr val="191919"/>
                </a:solidFill>
                <a:latin typeface="Arial"/>
              </a:rPr>
              <a:t>5. Feature Engineering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1883664"/>
            <a:ext cx="5166360" cy="6217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5F5F5F"/>
                </a:solidFill>
                <a:latin typeface="Arial"/>
              </a:rPr>
              <a:t>Rolling averages, dV/dt, power, time_elapsed and cc_cv_flag. No cross-file rolling.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09360" y="2715768"/>
            <a:ext cx="52120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50" b="1">
                <a:solidFill>
                  <a:srgbClr val="191919"/>
                </a:solidFill>
                <a:latin typeface="Arial"/>
              </a:rPr>
              <a:t>6. Split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3044951"/>
            <a:ext cx="5166360" cy="6217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5F5F5F"/>
                </a:solidFill>
                <a:latin typeface="Arial"/>
              </a:rPr>
              <a:t>By file: Mixed1–6 train, Mixed7 validation, Mixed8 + drive cycles test. No row shuffle.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09360" y="3877056"/>
            <a:ext cx="52120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50" b="1">
                <a:solidFill>
                  <a:srgbClr val="191919"/>
                </a:solidFill>
                <a:latin typeface="Arial"/>
              </a:rPr>
              <a:t>7. Model Training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4206240"/>
            <a:ext cx="5166360" cy="6217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5F5F5F"/>
                </a:solidFill>
                <a:latin typeface="Arial"/>
              </a:rPr>
              <a:t>Linear Regression → Random Forest → XGBoost → optional ANN. Separate model per target.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09360" y="5038344"/>
            <a:ext cx="52120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50" b="1">
                <a:solidFill>
                  <a:srgbClr val="191919"/>
                </a:solidFill>
                <a:latin typeface="Arial"/>
              </a:rPr>
              <a:t>8. Evaluation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5367528"/>
            <a:ext cx="5166360" cy="6217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5F5F5F"/>
                </a:solidFill>
                <a:latin typeface="Arial"/>
              </a:rPr>
              <a:t>MAE, RMSE and R². Per-temperature and per-SoC-range breakdown.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>
                <a:solidFill>
                  <a:srgbClr val="191919"/>
                </a:solidFill>
                <a:latin typeface="Arial"/>
              </a:rPr>
              <a:t>Data Readiness Package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32688"/>
            <a:ext cx="1078992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5F5F5F"/>
                </a:solidFill>
                <a:latin typeface="Arial"/>
              </a:rPr>
              <a:t>What we know before the first notebook run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" y="1298448"/>
            <a:ext cx="10927080" cy="13716"/>
          </a:xfrm>
          <a:prstGeom prst="rect">
            <a:avLst/>
          </a:prstGeom>
          <a:solidFill>
            <a:srgbClr val="EBEB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01400" y="6419088"/>
            <a:ext cx="4114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5F5F5F"/>
                </a:solidFill>
                <a:latin typeface="Arial"/>
              </a:rPr>
              <a:t>4 / 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554480"/>
            <a:ext cx="2743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91919"/>
                </a:solidFill>
                <a:latin typeface="Arial"/>
              </a:rPr>
              <a:t>Dataset facts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901952"/>
            <a:ext cx="516636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500"/>
              </a:spcAft>
              <a:defRPr sz="1220">
                <a:solidFill>
                  <a:srgbClr val="191919"/>
                </a:solidFill>
                <a:latin typeface="Arial"/>
              </a:defRPr>
            </a:pPr>
            <a:r>
              <a:t>• LG HG2 18650, 3Ah NMC, new cell.</a:t>
            </a:r>
          </a:p>
          <a:p>
            <a:pPr>
              <a:lnSpc>
                <a:spcPct val="105000"/>
              </a:lnSpc>
              <a:spcAft>
                <a:spcPts val="500"/>
              </a:spcAft>
              <a:defRPr sz="1220">
                <a:solidFill>
                  <a:srgbClr val="191919"/>
                </a:solidFill>
                <a:latin typeface="Arial"/>
              </a:defRPr>
            </a:pPr>
            <a:r>
              <a:t>• 208 CSV files across 6 temperature folders.</a:t>
            </a:r>
          </a:p>
          <a:p>
            <a:pPr>
              <a:lnSpc>
                <a:spcPct val="105000"/>
              </a:lnSpc>
              <a:spcAft>
                <a:spcPts val="500"/>
              </a:spcAft>
              <a:defRPr sz="1220">
                <a:solidFill>
                  <a:srgbClr val="191919"/>
                </a:solidFill>
                <a:latin typeface="Arial"/>
              </a:defRPr>
            </a:pPr>
            <a:r>
              <a:t>• Temperatures: −20, −10, 0, 10, 25, 40°C.</a:t>
            </a:r>
          </a:p>
          <a:p>
            <a:pPr>
              <a:lnSpc>
                <a:spcPct val="105000"/>
              </a:lnSpc>
              <a:spcAft>
                <a:spcPts val="500"/>
              </a:spcAft>
              <a:defRPr sz="1220">
                <a:solidFill>
                  <a:srgbClr val="191919"/>
                </a:solidFill>
                <a:latin typeface="Arial"/>
              </a:defRPr>
            </a:pPr>
            <a:r>
              <a:t>• Key columns: Voltage, Current, Temp, Capacity (Ah), WhAccu.</a:t>
            </a:r>
          </a:p>
          <a:p>
            <a:pPr>
              <a:lnSpc>
                <a:spcPct val="105000"/>
              </a:lnSpc>
              <a:spcAft>
                <a:spcPts val="500"/>
              </a:spcAft>
              <a:defRPr sz="1220">
                <a:solidFill>
                  <a:srgbClr val="191919"/>
                </a:solidFill>
                <a:latin typeface="Arial"/>
              </a:defRPr>
            </a:pPr>
            <a:r>
              <a:t>• SoC and RCT labels are not provided; both must be derived.</a:t>
            </a:r>
          </a:p>
          <a:p>
            <a:pPr>
              <a:lnSpc>
                <a:spcPct val="105000"/>
              </a:lnSpc>
              <a:spcAft>
                <a:spcPts val="500"/>
              </a:spcAft>
              <a:defRPr sz="1220">
                <a:solidFill>
                  <a:srgbClr val="191919"/>
                </a:solidFill>
                <a:latin typeface="Arial"/>
              </a:defRPr>
            </a:pPr>
            <a:r>
              <a:t>• Sample rate: 0.1s for drive cycles, slower for charge files.</a:t>
            </a:r>
          </a:p>
          <a:p>
            <a:pPr>
              <a:lnSpc>
                <a:spcPct val="105000"/>
              </a:lnSpc>
              <a:spcAft>
                <a:spcPts val="500"/>
              </a:spcAft>
              <a:defRPr sz="1220">
                <a:solidFill>
                  <a:srgbClr val="191919"/>
                </a:solidFill>
                <a:latin typeface="Arial"/>
              </a:defRPr>
            </a:pPr>
            <a:r>
              <a:t>• File types: Mixed, drive cycles, Charge, HPPC and Cap.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63640" y="1554480"/>
            <a:ext cx="38404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91919"/>
                </a:solidFill>
                <a:latin typeface="Arial"/>
              </a:rPr>
              <a:t>Top risks and mitigations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55080" y="1901952"/>
            <a:ext cx="5074920" cy="3063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500"/>
              </a:spcAft>
              <a:defRPr sz="1220">
                <a:solidFill>
                  <a:srgbClr val="191919"/>
                </a:solidFill>
                <a:latin typeface="Arial"/>
              </a:defRPr>
            </a:pPr>
            <a:r>
              <a:t>• Data leakage → chronological file-level split; no row shuffle.</a:t>
            </a:r>
          </a:p>
          <a:p>
            <a:pPr>
              <a:lnSpc>
                <a:spcPct val="105000"/>
              </a:lnSpc>
              <a:spcAft>
                <a:spcPts val="500"/>
              </a:spcAft>
              <a:defRPr sz="1220">
                <a:solidFill>
                  <a:srgbClr val="191919"/>
                </a:solidFill>
                <a:latin typeface="Arial"/>
              </a:defRPr>
            </a:pPr>
            <a:r>
              <a:t>• Capacity counter reset → derive SoC per segment and stitch where start SoC is known.</a:t>
            </a:r>
          </a:p>
          <a:p>
            <a:pPr>
              <a:lnSpc>
                <a:spcPct val="105000"/>
              </a:lnSpc>
              <a:spcAft>
                <a:spcPts val="500"/>
              </a:spcAft>
              <a:defRPr sz="1220">
                <a:solidFill>
                  <a:srgbClr val="191919"/>
                </a:solidFill>
                <a:latin typeface="Arial"/>
              </a:defRPr>
            </a:pPr>
            <a:r>
              <a:t>• Empty charge files → exclude files with fewer than 500 rows.</a:t>
            </a:r>
          </a:p>
          <a:p>
            <a:pPr>
              <a:lnSpc>
                <a:spcPct val="105000"/>
              </a:lnSpc>
              <a:spcAft>
                <a:spcPts val="500"/>
              </a:spcAft>
              <a:defRPr sz="1220">
                <a:solidFill>
                  <a:srgbClr val="191919"/>
                </a:solidFill>
                <a:latin typeface="Arial"/>
              </a:defRPr>
            </a:pPr>
            <a:r>
              <a:t>• PAU rows → filter before processing.</a:t>
            </a:r>
          </a:p>
          <a:p>
            <a:pPr>
              <a:lnSpc>
                <a:spcPct val="105000"/>
              </a:lnSpc>
              <a:spcAft>
                <a:spcPts val="500"/>
              </a:spcAft>
              <a:defRPr sz="1220">
                <a:solidFill>
                  <a:srgbClr val="191919"/>
                </a:solidFill>
                <a:latin typeface="Arial"/>
              </a:defRPr>
            </a:pPr>
            <a:r>
              <a:t>• Variable sample rate → use timestamps directly.</a:t>
            </a:r>
          </a:p>
          <a:p>
            <a:pPr>
              <a:lnSpc>
                <a:spcPct val="105000"/>
              </a:lnSpc>
              <a:spcAft>
                <a:spcPts val="500"/>
              </a:spcAft>
              <a:defRPr sz="1220">
                <a:solidFill>
                  <a:srgbClr val="191919"/>
                </a:solidFill>
                <a:latin typeface="Arial"/>
              </a:defRPr>
            </a:pPr>
            <a:r>
              <a:t>• SoC skew → evaluate 0–20%, 20–80% and 80–100% separately.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63640" y="5138928"/>
            <a:ext cx="2926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91919"/>
                </a:solidFill>
                <a:latin typeface="Arial"/>
              </a:rPr>
              <a:t>Questions for mentor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55080" y="5468112"/>
            <a:ext cx="49377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80" b="0">
                <a:solidFill>
                  <a:srgbClr val="5F5F5F"/>
                </a:solidFill>
                <a:latin typeface="Arial"/>
              </a:rPr>
              <a:t>1. Segment-wise or continuous SoC derivation?
2. Temperature-specific Q_nominal or fixed 3.0 Ah?
3. Mixed-cycle training with standard drive-cycle test, or split within Mixed files?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>
                <a:solidFill>
                  <a:srgbClr val="191919"/>
                </a:solidFill>
                <a:latin typeface="Arial"/>
              </a:rPr>
              <a:t>Experiment Plan and Evaluation Criteria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32688"/>
            <a:ext cx="1078992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5F5F5F"/>
                </a:solidFill>
                <a:latin typeface="Arial"/>
              </a:rPr>
              <a:t>Four experiments from baseline to project-specific study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" y="1298448"/>
            <a:ext cx="10927080" cy="13716"/>
          </a:xfrm>
          <a:prstGeom prst="rect">
            <a:avLst/>
          </a:prstGeom>
          <a:solidFill>
            <a:srgbClr val="EBEB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01400" y="6419088"/>
            <a:ext cx="4114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5F5F5F"/>
                </a:solidFill>
                <a:latin typeface="Arial"/>
              </a:rPr>
              <a:t>5 / 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554480"/>
            <a:ext cx="2743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91919"/>
                </a:solidFill>
                <a:latin typeface="Arial"/>
              </a:rPr>
              <a:t>Planned experiments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901952"/>
            <a:ext cx="64922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500"/>
              </a:spcAft>
              <a:defRPr sz="1250">
                <a:solidFill>
                  <a:srgbClr val="191919"/>
                </a:solidFill>
                <a:latin typeface="Arial"/>
              </a:defRPr>
            </a:pPr>
            <a:r>
              <a:t>• EXP-001 — Linear Regression (baseline): SoC R² ~0.75, MAE ~7%; RCT R² ~0.70, MAE ~12 min.</a:t>
            </a:r>
          </a:p>
          <a:p>
            <a:pPr>
              <a:lnSpc>
                <a:spcPct val="105000"/>
              </a:lnSpc>
              <a:spcAft>
                <a:spcPts val="500"/>
              </a:spcAft>
              <a:defRPr sz="1250">
                <a:solidFill>
                  <a:srgbClr val="191919"/>
                </a:solidFill>
                <a:latin typeface="Arial"/>
              </a:defRPr>
            </a:pPr>
            <a:r>
              <a:t>• EXP-002 — Random Forest: SoC R² &gt;0.92, MAE &lt;3%; RCT R² &gt;0.88, MAE &lt;5 min.</a:t>
            </a:r>
          </a:p>
          <a:p>
            <a:pPr>
              <a:lnSpc>
                <a:spcPct val="105000"/>
              </a:lnSpc>
              <a:spcAft>
                <a:spcPts val="500"/>
              </a:spcAft>
              <a:defRPr sz="1250">
                <a:solidFill>
                  <a:srgbClr val="191919"/>
                </a:solidFill>
                <a:latin typeface="Arial"/>
              </a:defRPr>
            </a:pPr>
            <a:r>
              <a:t>• EXP-003 — XGBoost: SoC R² &gt;0.96, MAE &lt;2%; RCT R² &gt;0.92, MAE &lt;3.5 min.</a:t>
            </a:r>
          </a:p>
          <a:p>
            <a:pPr>
              <a:lnSpc>
                <a:spcPct val="105000"/>
              </a:lnSpc>
              <a:spcAft>
                <a:spcPts val="500"/>
              </a:spcAft>
              <a:defRPr sz="1250">
                <a:solidFill>
                  <a:srgbClr val="191919"/>
                </a:solidFill>
                <a:latin typeface="Arial"/>
              </a:defRPr>
            </a:pPr>
            <a:r>
              <a:t>• EXP-004 — Temperature Generalization: compare single-temperature vs multi-temperature training.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4315968"/>
            <a:ext cx="2286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91919"/>
                </a:solidFill>
                <a:latin typeface="Arial"/>
              </a:rPr>
              <a:t>Split strategy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645152"/>
            <a:ext cx="594360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500"/>
              </a:spcAft>
              <a:defRPr sz="1220">
                <a:solidFill>
                  <a:srgbClr val="191919"/>
                </a:solidFill>
                <a:latin typeface="Arial"/>
              </a:defRPr>
            </a:pPr>
            <a:r>
              <a:t>• Training: Mixed1–6 + Charge1–12 (all 6 temperatures)</a:t>
            </a:r>
          </a:p>
          <a:p>
            <a:pPr>
              <a:lnSpc>
                <a:spcPct val="105000"/>
              </a:lnSpc>
              <a:spcAft>
                <a:spcPts val="500"/>
              </a:spcAft>
              <a:defRPr sz="1220">
                <a:solidFill>
                  <a:srgbClr val="191919"/>
                </a:solidFill>
                <a:latin typeface="Arial"/>
              </a:defRPr>
            </a:pPr>
            <a:r>
              <a:t>• Validation: Mixed7 + Charge13–14 (all 6 temperatures)</a:t>
            </a:r>
          </a:p>
          <a:p>
            <a:pPr>
              <a:lnSpc>
                <a:spcPct val="105000"/>
              </a:lnSpc>
              <a:spcAft>
                <a:spcPts val="500"/>
              </a:spcAft>
              <a:defRPr sz="1220">
                <a:solidFill>
                  <a:srgbClr val="191919"/>
                </a:solidFill>
                <a:latin typeface="Arial"/>
              </a:defRPr>
            </a:pPr>
            <a:r>
              <a:t>• Test: Mixed8, UDDS, HWFET, LA92, US06 + Charge15–16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43800" y="1554480"/>
            <a:ext cx="2743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91919"/>
                </a:solidFill>
                <a:latin typeface="Arial"/>
              </a:rPr>
              <a:t>Evaluation metrics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35240" y="1901952"/>
            <a:ext cx="384048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500"/>
              </a:spcAft>
              <a:defRPr sz="1220">
                <a:solidFill>
                  <a:srgbClr val="191919"/>
                </a:solidFill>
                <a:latin typeface="Arial"/>
              </a:defRPr>
            </a:pPr>
            <a:r>
              <a:t>• SoC MAE: good &lt;3%, best &lt;1.5%</a:t>
            </a:r>
          </a:p>
          <a:p>
            <a:pPr>
              <a:lnSpc>
                <a:spcPct val="105000"/>
              </a:lnSpc>
              <a:spcAft>
                <a:spcPts val="500"/>
              </a:spcAft>
              <a:defRPr sz="1220">
                <a:solidFill>
                  <a:srgbClr val="191919"/>
                </a:solidFill>
                <a:latin typeface="Arial"/>
              </a:defRPr>
            </a:pPr>
            <a:r>
              <a:t>• SoC RMSE: good &lt;4%, best &lt;2%</a:t>
            </a:r>
          </a:p>
          <a:p>
            <a:pPr>
              <a:lnSpc>
                <a:spcPct val="105000"/>
              </a:lnSpc>
              <a:spcAft>
                <a:spcPts val="500"/>
              </a:spcAft>
              <a:defRPr sz="1220">
                <a:solidFill>
                  <a:srgbClr val="191919"/>
                </a:solidFill>
                <a:latin typeface="Arial"/>
              </a:defRPr>
            </a:pPr>
            <a:r>
              <a:t>• SoC R²: good &gt;0.90, best &gt;0.96</a:t>
            </a:r>
          </a:p>
          <a:p>
            <a:pPr>
              <a:lnSpc>
                <a:spcPct val="105000"/>
              </a:lnSpc>
              <a:spcAft>
                <a:spcPts val="500"/>
              </a:spcAft>
              <a:defRPr sz="1220">
                <a:solidFill>
                  <a:srgbClr val="191919"/>
                </a:solidFill>
                <a:latin typeface="Arial"/>
              </a:defRPr>
            </a:pPr>
            <a:r>
              <a:t>• RCT MAE: good &lt;5 min, best &lt;2.5 min</a:t>
            </a:r>
          </a:p>
          <a:p>
            <a:pPr>
              <a:lnSpc>
                <a:spcPct val="105000"/>
              </a:lnSpc>
              <a:spcAft>
                <a:spcPts val="500"/>
              </a:spcAft>
              <a:defRPr sz="1220">
                <a:solidFill>
                  <a:srgbClr val="191919"/>
                </a:solidFill>
                <a:latin typeface="Arial"/>
              </a:defRPr>
            </a:pPr>
            <a:r>
              <a:t>• RCT RMSE: good &lt;7 min, best &lt;3.5 min</a:t>
            </a:r>
          </a:p>
          <a:p>
            <a:pPr>
              <a:lnSpc>
                <a:spcPct val="105000"/>
              </a:lnSpc>
              <a:spcAft>
                <a:spcPts val="500"/>
              </a:spcAft>
              <a:defRPr sz="1220">
                <a:solidFill>
                  <a:srgbClr val="191919"/>
                </a:solidFill>
                <a:latin typeface="Arial"/>
              </a:defRPr>
            </a:pPr>
            <a:r>
              <a:t>• RCT R²: good &gt;0.85, best &gt;0.92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35240" y="4663440"/>
            <a:ext cx="379476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5F5F5F"/>
                </a:solidFill>
                <a:latin typeface="Arial"/>
              </a:rPr>
              <a:t>Also report per-temperature and per-SoC-range performance for the best model.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>
                <a:solidFill>
                  <a:srgbClr val="191919"/>
                </a:solidFill>
                <a:latin typeface="Arial"/>
              </a:rPr>
              <a:t>Open Questions for Mentor + Corrections Log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32688"/>
            <a:ext cx="1078992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5F5F5F"/>
                </a:solidFill>
                <a:latin typeface="Arial"/>
              </a:rPr>
              <a:t>Items to confirm before starting the first notebook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" y="1298448"/>
            <a:ext cx="10927080" cy="13716"/>
          </a:xfrm>
          <a:prstGeom prst="rect">
            <a:avLst/>
          </a:prstGeom>
          <a:solidFill>
            <a:srgbClr val="EBEB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01400" y="6419088"/>
            <a:ext cx="4114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5F5F5F"/>
                </a:solidFill>
                <a:latin typeface="Arial"/>
              </a:rPr>
              <a:t>6 / 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536192"/>
            <a:ext cx="3154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70" b="1">
                <a:solidFill>
                  <a:srgbClr val="191919"/>
                </a:solidFill>
                <a:latin typeface="Arial"/>
              </a:rPr>
              <a:t>Q1 — SoC derivation scope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11880" y="1536192"/>
            <a:ext cx="7818120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20" b="0">
                <a:solidFill>
                  <a:srgbClr val="5F5F5F"/>
                </a:solidFill>
                <a:latin typeface="Arial"/>
              </a:rPr>
              <a:t>Derive SoC per test segment independently, or track continuously across a full session?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2194560"/>
            <a:ext cx="3154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70" b="1">
                <a:solidFill>
                  <a:srgbClr val="191919"/>
                </a:solidFill>
                <a:latin typeface="Arial"/>
              </a:rPr>
              <a:t>Q2 — Q_nominal handling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11880" y="2194560"/>
            <a:ext cx="7818120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20" b="0">
                <a:solidFill>
                  <a:srgbClr val="5F5F5F"/>
                </a:solidFill>
                <a:latin typeface="Arial"/>
              </a:rPr>
              <a:t>Use temperature-specific Q_nominal from Cap_1C files, or a fixed 3.0 Ah for all temperatures?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2852928"/>
            <a:ext cx="3154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70" b="1">
                <a:solidFill>
                  <a:srgbClr val="191919"/>
                </a:solidFill>
                <a:latin typeface="Arial"/>
              </a:rPr>
              <a:t>Q3 — Train/test split strategy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11880" y="2852928"/>
            <a:ext cx="7818120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20" b="0">
                <a:solidFill>
                  <a:srgbClr val="5F5F5F"/>
                </a:solidFill>
                <a:latin typeface="Arial"/>
              </a:rPr>
              <a:t>Train on Mixed cycles and test on UDDS/HWFET/LA92/US06, or split within Mixed files only?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3511296"/>
            <a:ext cx="3154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70" b="1">
                <a:solidFill>
                  <a:srgbClr val="191919"/>
                </a:solidFill>
                <a:latin typeface="Arial"/>
              </a:rPr>
              <a:t>Q4 — Dual-target model architecture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11880" y="3511296"/>
            <a:ext cx="7818120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20" b="0">
                <a:solidFill>
                  <a:srgbClr val="5F5F5F"/>
                </a:solidFill>
                <a:latin typeface="Arial"/>
              </a:rPr>
              <a:t>Separate models for SoC and RCT, or a single multi-output regression model?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" y="4169663"/>
            <a:ext cx="3154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70" b="1">
                <a:solidFill>
                  <a:srgbClr val="191919"/>
                </a:solidFill>
                <a:latin typeface="Arial"/>
              </a:rPr>
              <a:t>Q5 — Acceptable error thresholds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11880" y="4169663"/>
            <a:ext cx="7818120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20" b="0">
                <a:solidFill>
                  <a:srgbClr val="5F5F5F"/>
                </a:solidFill>
                <a:latin typeface="Arial"/>
              </a:rPr>
              <a:t>Is there a defined acceptable MAE for SoC, such as below 3% for practical BMS use?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" y="4828031"/>
            <a:ext cx="3154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70" b="1">
                <a:solidFill>
                  <a:srgbClr val="191919"/>
                </a:solidFill>
                <a:latin typeface="Arial"/>
              </a:rPr>
              <a:t>Q6 — RCT scope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11880" y="4828031"/>
            <a:ext cx="7818120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20" b="0">
                <a:solidFill>
                  <a:srgbClr val="5F5F5F"/>
                </a:solidFill>
                <a:latin typeface="Arial"/>
              </a:rPr>
              <a:t>Predict RCT only from Charge files, or also estimate it from recovery patterns in discharge files?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5559552"/>
            <a:ext cx="3474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50" b="1">
                <a:solidFill>
                  <a:srgbClr val="191919"/>
                </a:solidFill>
                <a:latin typeface="Arial"/>
              </a:rPr>
              <a:t>Mentor corrections / confirmations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0" y="5513832"/>
            <a:ext cx="75895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5F5F5F"/>
                </a:solidFill>
                <a:latin typeface="Arial"/>
              </a:rPr>
              <a:t>Q1: __________   Q2: __________   Q3: __________
Q4: __________   Q5: __________   Q6: __________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" y="6144768"/>
            <a:ext cx="106984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5F5F5F"/>
                </a:solidFill>
                <a:latin typeface="Arial"/>
              </a:rPr>
              <a:t>Additional mentor comments: ________________________________________________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