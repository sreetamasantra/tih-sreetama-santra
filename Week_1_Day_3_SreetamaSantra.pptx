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4711303"/>
            <a:ext cx="11239500" cy="75515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704975"/>
            <a:ext cx="5505450" cy="283487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704975"/>
            <a:ext cx="5505450" cy="28348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381000"/>
            <a:ext cx="112395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F497D"/>
                </a:solidFill>
                <a:latin typeface="Calibri"/>
              </a:rPr>
              <a:t>Week 1 — Day 3 Progress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847725"/>
            <a:ext cx="11239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95959"/>
                </a:solidFill>
                <a:latin typeface="Calibri"/>
              </a:rPr>
              <a:t>Sreetama Santra | 12024052019052 | IEM, Kolkata | TIH IIT Guwahati | 2026-08-22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1123950"/>
            <a:ext cx="112395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36275" y="6524625"/>
            <a:ext cx="7947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8C8C8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1323975"/>
            <a:ext cx="11239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F497D"/>
                </a:solidFill>
                <a:latin typeface="Calibri"/>
              </a:rPr>
              <a:t>Work Completed (Day 1 and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4873228"/>
            <a:ext cx="1232743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1" sz="1275" i="0" u="none">
                <a:solidFill>
                  <a:srgbClr val="D46B08"/>
                </a:solidFill>
                <a:latin typeface="Calibri"/>
              </a:rPr>
              <a:t>Dataset Update: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1885950"/>
            <a:ext cx="5067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F497D"/>
                </a:solidFill>
                <a:latin typeface="Calibri"/>
              </a:rPr>
              <a:t>Day 1: Problem Understanding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5325" y="2162175"/>
            <a:ext cx="5067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9375" y="1885950"/>
            <a:ext cx="5067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F497D"/>
                </a:solidFill>
                <a:latin typeface="Calibri"/>
              </a:rPr>
              <a:t>Day 2: Literature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29375" y="2162175"/>
            <a:ext cx="5067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725" y="2287785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12" i="0" u="none">
                <a:solidFill>
                  <a:srgbClr val="333333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2286000"/>
            <a:ext cx="4857750" cy="241696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b="0" sz="1312" i="0" u="none">
                <a:solidFill>
                  <a:srgbClr val="333333"/>
                </a:solidFill>
                <a:latin typeface="Calibri"/>
              </a:rPr>
              <a:t>Read and summarised the problem statement in technical terms.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624732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12" i="0" u="none">
                <a:solidFill>
                  <a:srgbClr val="333333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875" y="2622946"/>
            <a:ext cx="4857750" cy="241696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b="0" sz="1312" i="0" u="none">
                <a:solidFill>
                  <a:srgbClr val="333333"/>
                </a:solidFill>
                <a:latin typeface="Calibri"/>
              </a:rPr>
              <a:t>Identified 5 input features from the LG HG2 dataset.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2961679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12" i="0" u="none">
                <a:solidFill>
                  <a:srgbClr val="333333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875" y="2959893"/>
            <a:ext cx="4857750" cy="483393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b="0" sz="1312" i="0" u="none">
                <a:solidFill>
                  <a:srgbClr val="333333"/>
                </a:solidFill>
                <a:latin typeface="Calibri"/>
              </a:rPr>
              <a:t>Derived that SoC is not directly labelled and must be computed via Coulomb counting.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540323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12" i="0" u="none">
                <a:solidFill>
                  <a:srgbClr val="333333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875" y="3538537"/>
            <a:ext cx="4857750" cy="241696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b="0" sz="1312" i="0" u="none">
                <a:solidFill>
                  <a:srgbClr val="333333"/>
                </a:solidFill>
                <a:latin typeface="Calibri"/>
              </a:rPr>
              <a:t>Documented the 10-step ML pipeline.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877270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12" i="0" u="none">
                <a:solidFill>
                  <a:srgbClr val="333333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75" y="3875484"/>
            <a:ext cx="4857750" cy="241696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b="0" sz="1312" i="0" u="none">
                <a:solidFill>
                  <a:srgbClr val="333333"/>
                </a:solidFill>
                <a:latin typeface="Calibri"/>
              </a:rPr>
              <a:t>Raised 11 questions for mentor clarification.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1775" y="2287785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12" i="0" u="none">
                <a:solidFill>
                  <a:srgbClr val="333333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925" y="2286000"/>
            <a:ext cx="4857750" cy="241696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b="0" sz="1312" i="0" u="none">
                <a:solidFill>
                  <a:srgbClr val="333333"/>
                </a:solidFill>
                <a:latin typeface="Calibri"/>
              </a:rPr>
              <a:t>Reviewed 8 papers on ML-based SoC estimation.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1775" y="2624732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12" i="0" u="none">
                <a:solidFill>
                  <a:srgbClr val="333333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925" y="2622946"/>
            <a:ext cx="4857750" cy="483393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b="0" sz="1312" i="0" u="none">
                <a:solidFill>
                  <a:srgbClr val="333333"/>
                </a:solidFill>
                <a:latin typeface="Calibri"/>
              </a:rPr>
              <a:t>Found 2 papers using our exact LG HG2 dataset (Kollmeyer 2020, Chemali 2018).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1775" y="3203376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12" i="0" u="none">
                <a:solidFill>
                  <a:srgbClr val="333333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8925" y="3201590"/>
            <a:ext cx="4857750" cy="241696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b="0" sz="1312" i="0" u="none">
                <a:solidFill>
                  <a:srgbClr val="333333"/>
                </a:solidFill>
                <a:latin typeface="Calibri"/>
              </a:rPr>
              <a:t>Built comparison table across all 8 papers.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1775" y="3540323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12" i="0" u="none">
                <a:solidFill>
                  <a:srgbClr val="333333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38925" y="3538537"/>
            <a:ext cx="4857750" cy="241696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b="0" sz="1312" i="0" u="none">
                <a:solidFill>
                  <a:srgbClr val="333333"/>
                </a:solidFill>
                <a:latin typeface="Calibri"/>
              </a:rPr>
              <a:t>Selected 4 candidate ML methods with justification.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1775" y="3877270"/>
            <a:ext cx="57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12" i="0" u="none">
                <a:solidFill>
                  <a:srgbClr val="333333"/>
                </a:solidFill>
                <a:latin typeface="Calibr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8925" y="3875484"/>
            <a:ext cx="4857750" cy="483393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b="0" sz="1312" i="0" u="none">
                <a:solidFill>
                  <a:srgbClr val="333333"/>
                </a:solidFill>
                <a:latin typeface="Calibri"/>
              </a:rPr>
              <a:t>Key benchmark is less than 1.5% RMSE on SoC from Kollmeyer 2020.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323975"/>
            <a:ext cx="11239500" cy="70723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145506"/>
            <a:ext cx="11239500" cy="9370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196828"/>
            <a:ext cx="11239500" cy="70723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018359"/>
            <a:ext cx="11239500" cy="122247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7475" y="4429125"/>
            <a:ext cx="2748260" cy="4009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381000"/>
            <a:ext cx="112395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F497D"/>
                </a:solidFill>
                <a:latin typeface="Calibri"/>
              </a:rPr>
              <a:t>Key Findings from Literature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847725"/>
            <a:ext cx="11239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95959"/>
                </a:solidFill>
                <a:latin typeface="Calibri"/>
              </a:rPr>
              <a:t>Summary of findings from paper analysis and dataset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250" y="1123950"/>
            <a:ext cx="112395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36275" y="6524625"/>
            <a:ext cx="7947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" y="1466850"/>
            <a:ext cx="1809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497D"/>
                </a:solidFill>
                <a:latin typeface="Calibri"/>
              </a:rPr>
              <a:t>About Our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475" y="1447800"/>
            <a:ext cx="8877300" cy="4595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b="0" sz="1275" i="0" u="none">
                <a:solidFill>
                  <a:srgbClr val="333333"/>
                </a:solidFill>
                <a:latin typeface="Calibri"/>
              </a:rPr>
              <a:t>Two papers (Kollmeyer 2020 and Chemali 2018) use our exact LG HG2 dataset. State-of-the-art RMSE on this dataset is below 1.5% using deep learning. Our RF and XGBoost models should aim for under 3% RMSE as a realistic target.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" y="2288381"/>
            <a:ext cx="1809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497D"/>
                </a:solidFill>
                <a:latin typeface="Calibri"/>
              </a:rPr>
              <a:t>About Model 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7475" y="2269331"/>
            <a:ext cx="8877300" cy="689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b="0" sz="1275" i="0" u="none">
                <a:solidFill>
                  <a:srgbClr val="333333"/>
                </a:solidFill>
                <a:latin typeface="Calibri"/>
              </a:rPr>
              <a:t>XGBoost and Random Forest consistently outperform linear models and Kalman filters across all reviewed papers. XGBoost achieves R-squared above 0.97. LSTM outperforms both but needs more data and compute. Plan: Linear Regression baseline, then RF, then XGBoost, then optional ANN.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" y="3339703"/>
            <a:ext cx="1809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497D"/>
                </a:solidFill>
                <a:latin typeface="Calibri"/>
              </a:rPr>
              <a:t>About Temperature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475" y="3320653"/>
            <a:ext cx="8877300" cy="4595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b="0" sz="1275" i="0" u="none">
                <a:solidFill>
                  <a:srgbClr val="333333"/>
                </a:solidFill>
                <a:latin typeface="Calibri"/>
              </a:rPr>
              <a:t>Dataset spans -20°C to 40°C. Models trained at one temperature fail badly at others. Temperature must be an explicit input feature and models should train across all 6 temperature conditions.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" y="4161234"/>
            <a:ext cx="1809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497D"/>
                </a:solidFill>
                <a:latin typeface="Calibri"/>
              </a:rPr>
              <a:t>About SoC Labels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9400" y="4531221"/>
            <a:ext cx="2424410" cy="232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704975"/>
            <a:ext cx="5500687" cy="92362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723852"/>
            <a:ext cx="5500687" cy="70053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519636"/>
            <a:ext cx="5500687" cy="70053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315420"/>
            <a:ext cx="5500687" cy="70053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2" y="1704975"/>
            <a:ext cx="5500687" cy="70053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5062" y="2500758"/>
            <a:ext cx="5500687" cy="70053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5062" y="3296542"/>
            <a:ext cx="5500687" cy="70053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5062" y="4092326"/>
            <a:ext cx="5500687" cy="7005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381000"/>
            <a:ext cx="112395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F497D"/>
                </a:solidFill>
                <a:latin typeface="Calibri"/>
              </a:rPr>
              <a:t>Blockers and Week 1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847725"/>
            <a:ext cx="11239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95959"/>
                </a:solidFill>
                <a:latin typeface="Calibri"/>
              </a:rPr>
              <a:t>Current project challenges and roadmap for Days 4 to 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50" y="1123950"/>
            <a:ext cx="112395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36275" y="6524625"/>
            <a:ext cx="7947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" y="1323975"/>
            <a:ext cx="550068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CF1322"/>
                </a:solidFill>
                <a:latin typeface="Calibri"/>
              </a:rPr>
              <a:t>Current Blockers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5062" y="1323975"/>
            <a:ext cx="550068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9E0D"/>
                </a:solidFill>
                <a:latin typeface="Calibri"/>
              </a:rPr>
              <a:t>Plan for Days 4 to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" y="1847850"/>
            <a:ext cx="218033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b="1" sz="1275" i="0" u="none">
                <a:solidFill>
                  <a:srgbClr val="CF1322"/>
                </a:solidFill>
                <a:latin typeface="Calibri"/>
              </a:rPr>
              <a:t>1) SoC Derivation Ambiguity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" y="2866727"/>
            <a:ext cx="203061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b="1" sz="1275" i="0" u="none">
                <a:solidFill>
                  <a:srgbClr val="CF1322"/>
                </a:solidFill>
                <a:latin typeface="Calibri"/>
              </a:rPr>
              <a:t>2) Train/Test Split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" y="3662511"/>
            <a:ext cx="1880443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b="1" sz="1275" i="0" u="none">
                <a:solidFill>
                  <a:srgbClr val="CF1322"/>
                </a:solidFill>
                <a:latin typeface="Calibri"/>
              </a:rPr>
              <a:t>3) Dual-target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75" y="4458295"/>
            <a:ext cx="1334839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b="1" sz="1275" i="0" u="none">
                <a:solidFill>
                  <a:srgbClr val="CF1322"/>
                </a:solidFill>
                <a:latin typeface="Calibri"/>
              </a:rPr>
              <a:t>4) GitHub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3697" y="4688085"/>
            <a:ext cx="145003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b="0" sz="1237" i="1" u="none">
                <a:solidFill>
                  <a:srgbClr val="333333"/>
                </a:solidFill>
                <a:latin typeface="Calibri"/>
              </a:rPr>
              <a:t>TIH-SreetamaSantra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6987" y="1847850"/>
            <a:ext cx="432196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b="1" sz="1275" i="0" u="none">
                <a:solidFill>
                  <a:srgbClr val="389E0D"/>
                </a:solidFill>
                <a:latin typeface="Calibri"/>
              </a:rPr>
              <a:t>Day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6987" y="2643633"/>
            <a:ext cx="432196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b="1" sz="1275" i="0" u="none">
                <a:solidFill>
                  <a:srgbClr val="389E0D"/>
                </a:solidFill>
                <a:latin typeface="Calibri"/>
              </a:rP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6987" y="3439417"/>
            <a:ext cx="432196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b="1" sz="1275" i="0" u="none">
                <a:solidFill>
                  <a:srgbClr val="389E0D"/>
                </a:solidFill>
                <a:latin typeface="Calibri"/>
              </a:rPr>
              <a:t>Day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6987" y="4235201"/>
            <a:ext cx="194369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b="1" sz="1275" i="0" u="none">
                <a:solidFill>
                  <a:srgbClr val="389E0D"/>
                </a:solidFill>
                <a:latin typeface="Calibri"/>
              </a:rPr>
              <a:t>Day 7 (Intern Discussion)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